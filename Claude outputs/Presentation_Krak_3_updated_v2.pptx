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30"/>
  </p:notesMasterIdLst>
  <p:handoutMasterIdLst>
    <p:handoutMasterId r:id="rId31"/>
  </p:handoutMasterIdLst>
  <p:sldIdLst>
    <p:sldId id="410" r:id="rId5"/>
    <p:sldId id="435" r:id="rId6"/>
    <p:sldId id="383" r:id="rId7"/>
    <p:sldId id="391" r:id="rId8"/>
    <p:sldId id="411" r:id="rId9"/>
    <p:sldId id="412" r:id="rId10"/>
    <p:sldId id="408" r:id="rId11"/>
    <p:sldId id="407" r:id="rId12"/>
    <p:sldId id="405" r:id="rId13"/>
    <p:sldId id="404" r:id="rId14"/>
    <p:sldId id="413" r:id="rId15"/>
    <p:sldId id="414" r:id="rId16"/>
    <p:sldId id="415" r:id="rId17"/>
    <p:sldId id="416" r:id="rId18"/>
    <p:sldId id="436" r:id="rId37"/>
    <p:sldId id="437" r:id="rId38"/>
    <p:sldId id="438" r:id="rId39"/>
    <p:sldId id="439" r:id="rId40"/>
    <p:sldId id="420" r:id="rId21"/>
    <p:sldId id="423" r:id="rId22"/>
    <p:sldId id="432" r:id="rId23"/>
    <p:sldId id="425" r:id="rId24"/>
    <p:sldId id="433" r:id="rId25"/>
    <p:sldId id="424" r:id="rId26"/>
    <p:sldId id="429" r:id="rId27"/>
    <p:sldId id="434" r:id="rId28"/>
    <p:sldId id="42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Автор" initials="А" lastIdx="0" clrIdx="4"/>
  <p:cmAuthor id="6" name="ivan k" initials="ik" lastIdx="1" clrIdx="5">
    <p:extLst>
      <p:ext uri="{19B8F6BF-5375-455C-9EA6-DF929625EA0E}">
        <p15:presenceInfo xmlns:p15="http://schemas.microsoft.com/office/powerpoint/2012/main" userId="fe6d3faef5f3c38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07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84709" autoAdjust="0"/>
  </p:normalViewPr>
  <p:slideViewPr>
    <p:cSldViewPr snapToGrid="0">
      <p:cViewPr varScale="1">
        <p:scale>
          <a:sx n="111" d="100"/>
          <a:sy n="111" d="100"/>
        </p:scale>
        <p:origin x="30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commentAuthors" Target="commentAuthors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Покриття</c:v>
                </c:pt>
              </c:strCache>
            </c:strRef>
          </c:tx>
          <c:spPr>
            <a:solidFill>
              <a:srgbClr val="2B7BB9"/>
            </a:solidFill>
            <a:ln w="19050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WEDD</c:v>
                </c:pt>
                <c:pt idx="1">
                  <c:v>MDLP</c:v>
                </c:pt>
                <c:pt idx="2">
                  <c:v>Рівна
частота</c:v>
                </c:pt>
                <c:pt idx="3">
                  <c:v>Рівна
ширина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0.848</c:v>
                </c:pt>
                <c:pt idx="1">
                  <c:v>0.833</c:v>
                </c:pt>
                <c:pt idx="2">
                  <c:v>0.721</c:v>
                </c:pt>
                <c:pt idx="3">
                  <c:v>0.64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Вірність на покритих</c:v>
                </c:pt>
              </c:strCache>
            </c:strRef>
          </c:tx>
          <c:spPr>
            <a:solidFill>
              <a:srgbClr val="E39B26"/>
            </a:solidFill>
            <a:ln w="19050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WEDD</c:v>
                </c:pt>
                <c:pt idx="1">
                  <c:v>MDLP</c:v>
                </c:pt>
                <c:pt idx="2">
                  <c:v>Рівна
частота</c:v>
                </c:pt>
                <c:pt idx="3">
                  <c:v>Рівна
ширина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0.405</c:v>
                </c:pt>
                <c:pt idx="1">
                  <c:v>0.398</c:v>
                </c:pt>
                <c:pt idx="2">
                  <c:v>0.309</c:v>
                </c:pt>
                <c:pt idx="3">
                  <c:v>0.454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 b="1">
                  <a:solidFill>
                    <a:srgbClr val="2B2B2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50">
                <a:solidFill>
                  <a:srgbClr val="2B2B2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9525">
              <a:solidFill>
                <a:srgbClr val="E3E3E3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  <c:majorUnit val="0.25"/>
      </c:valAx>
    </c:plotArea>
    <c:legend>
      <c:legendPos val="t"/>
      <c:overlay val="0"/>
      <c:txPr>
        <a:bodyPr/>
        <a:lstStyle/>
        <a:p>
          <a:pPr>
            <a:defRPr sz="1050">
              <a:solidFill>
                <a:srgbClr val="2B2B2B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ρ</c:v>
                </c:pt>
              </c:strCache>
            </c:strRef>
          </c:tx>
          <c:spPr>
            <a:solidFill>
              <a:srgbClr val="2B7BB9"/>
            </a:solidFill>
            <a:ln w="19050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2B7BB9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B7BB9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E06742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2B7BB9"/>
              </a:solidFill>
              <a:ln w="19050">
                <a:solidFill>
                  <a:srgbClr val="FFFFFF"/>
                </a:solidFill>
              </a:ln>
            </c:spPr>
          </c:dPt>
          <c:errBars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0.04600000000000004</c:v>
                </c:pt>
                <c:pt idx="1">
                  <c:v>0.07100000000000001</c:v>
                </c:pt>
                <c:pt idx="2">
                  <c:v>0.10599999999999998</c:v>
                </c:pt>
                <c:pt idx="3">
                  <c:v>0.06599999999999995</c:v>
                </c:pt>
              </c:numLit>
            </c:plus>
            <c:minus>
              <c:numLit>
                <c:formatCode>General</c:formatCode>
                <c:ptCount val="4"/>
                <c:pt idx="0">
                  <c:v>0.04799999999999993</c:v>
                </c:pt>
                <c:pt idx="1">
                  <c:v>0.07799999999999999</c:v>
                </c:pt>
                <c:pt idx="2">
                  <c:v>0.16</c:v>
                </c:pt>
                <c:pt idx="3">
                  <c:v>0.08000000000000007</c:v>
                </c:pt>
              </c:numLit>
            </c:minus>
            <c:spPr>
              <a:ln w="15875">
                <a:solidFill>
                  <a:srgbClr val="3A3A3A"/>
                </a:solidFill>
              </a:ln>
            </c:spPr>
          </c:errBars>
          <c:cat>
            <c:strRef>
              <c:f>Sheet1!$A$2:$A$5</c:f>
              <c:strCache>
                <c:ptCount val="4"/>
                <c:pt idx="0">
                  <c:v>M&amp;Ms-2: лише ФВ ✓</c:v>
                </c:pt>
                <c:pt idx="1">
                  <c:v>M&amp;Ms-2, проспективно ✓</c:v>
                </c:pt>
                <c:pt idx="2">
                  <c:v>M&amp;Ms-1, 4 виробники ✗</c:v>
                </c:pt>
                <c:pt idx="3">
                  <c:v>ACDC, тест ✓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0.606</c:v>
                </c:pt>
                <c:pt idx="1">
                  <c:v>0.311</c:v>
                </c:pt>
                <c:pt idx="2">
                  <c:v>0.192</c:v>
                </c:pt>
                <c:pt idx="3">
                  <c:v>0.553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50" b="1">
                  <a:solidFill>
                    <a:srgbClr val="FFFFFF"/>
                  </a:solidFill>
                  <a:latin typeface="Arial"/>
                </a:defRPr>
              </a:pPr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2B2B2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0"/>
        </c:scaling>
        <c:delete val="0"/>
        <c:axPos val="b"/>
        <c:majorGridlines>
          <c:spPr>
            <a:ln w="9525">
              <a:solidFill>
                <a:srgbClr val="E3E3E3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Влучання</c:v>
                </c:pt>
              </c:strCache>
            </c:strRef>
          </c:tx>
          <c:spPr>
            <a:solidFill>
              <a:srgbClr val="2B7BB9"/>
            </a:solidFill>
            <a:ln w="19050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E06742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A6A6A6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6A6A6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2B7BB9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Grad-CAM</c:v>
                </c:pt>
                <c:pt idx="1">
                  <c:v>Середнє положення</c:v>
                </c:pt>
                <c:pt idx="2">
                  <c:v>Центр зображення</c:v>
                </c:pt>
                <c:pt idx="3">
                  <c:v>Матриця переходу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0.042</c:v>
                </c:pt>
                <c:pt idx="1">
                  <c:v>0.074</c:v>
                </c:pt>
                <c:pt idx="2">
                  <c:v>0.079</c:v>
                </c:pt>
                <c:pt idx="3">
                  <c:v>0.185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50" b="1">
                  <a:solidFill>
                    <a:srgbClr val="2B2B2B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solidFill>
                  <a:srgbClr val="2B2B2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"/>
          <c:min val="0.0"/>
        </c:scaling>
        <c:delete val="0"/>
        <c:axPos val="b"/>
        <c:majorGridlines>
          <c:spPr>
            <a:ln w="9525">
              <a:solidFill>
                <a:srgbClr val="E3E3E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  <c:majorUnit val="0.05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ρ</c:v>
                </c:pt>
              </c:strCache>
            </c:strRef>
          </c:tx>
          <c:spPr>
            <a:solidFill>
              <a:srgbClr val="2B7BB9"/>
            </a:solidFill>
            <a:ln w="19050">
              <a:solidFill>
                <a:srgbClr val="FFFFFF"/>
              </a:solidFill>
            </a:ln>
          </c:spPr>
          <c:invertIfNegative val="0"/>
          <c:dPt>
            <c:idx val="0"/>
            <c:spPr>
              <a:solidFill>
                <a:srgbClr val="A6A6A6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A6A6A6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6A6A6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F9DB8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2B7BB9"/>
              </a:solidFill>
              <a:ln w="19050">
                <a:solidFill>
                  <a:srgbClr val="FFFFFF"/>
                </a:solidFill>
              </a:ln>
            </c:spPr>
          </c:dPt>
          <c:errBars>
            <c:errBarType val="both"/>
            <c:errValType val="cust"/>
            <c:noEndCap val="0"/>
            <c:plus>
              <c:numLit>
                <c:formatCode>General</c:formatCode>
                <c:ptCount val="5"/>
                <c:pt idx="0">
                  <c:v>0.014000000000000012</c:v>
                </c:pt>
                <c:pt idx="1">
                  <c:v>0.0119999999999999</c:v>
                </c:pt>
                <c:pt idx="2">
                  <c:v>0.01200000000000001</c:v>
                </c:pt>
                <c:pt idx="3">
                  <c:v>0.0030000000000000027</c:v>
                </c:pt>
                <c:pt idx="4">
                  <c:v>0.0030000000000000027</c:v>
                </c:pt>
              </c:numLit>
            </c:plus>
            <c:minus>
              <c:numLit>
                <c:formatCode>General</c:formatCode>
                <c:ptCount val="5"/>
                <c:pt idx="0">
                  <c:v>0.013000000000000012</c:v>
                </c:pt>
                <c:pt idx="1">
                  <c:v>0.01100000000000001</c:v>
                </c:pt>
                <c:pt idx="2">
                  <c:v>0.0119999999999999</c:v>
                </c:pt>
                <c:pt idx="3">
                  <c:v>0.0030000000000000027</c:v>
                </c:pt>
                <c:pt idx="4">
                  <c:v>0.0040000000000000036</c:v>
                </c:pt>
              </c:numLit>
            </c:minus>
            <c:spPr>
              <a:ln w="15875">
                <a:solidFill>
                  <a:srgbClr val="3A3A3A"/>
                </a:solidFill>
              </a:ln>
            </c:spPr>
          </c:errBars>
          <c:cat>
            <c:strRef>
              <c:f>Sheet1!$A$2:$A$6</c:f>
              <c:strCache>
                <c:ptCount val="5"/>
                <c:pt idx="0">
                  <c:v>Input×Gradient</c:v>
                </c:pt>
                <c:pt idx="1">
                  <c:v>Integrated Gradients</c:v>
                </c:pt>
                <c:pt idx="2">
                  <c:v>GradientSHAP</c:v>
                </c:pt>
                <c:pt idx="3">
                  <c:v>Часова оклюзія</c:v>
                </c:pt>
                <c:pt idx="4">
                  <c:v>CARDIA-X (семантичне)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0.63</c:v>
                </c:pt>
                <c:pt idx="1">
                  <c:v>0.683</c:v>
                </c:pt>
                <c:pt idx="2">
                  <c:v>0.69</c:v>
                </c:pt>
                <c:pt idx="3">
                  <c:v>0.959</c:v>
                </c:pt>
                <c:pt idx="4">
                  <c:v>0.99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50" b="1">
                  <a:solidFill>
                    <a:srgbClr val="FFFFFF"/>
                  </a:solidFill>
                  <a:latin typeface="Arial"/>
                </a:defRPr>
              </a:pPr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>
                <a:solidFill>
                  <a:srgbClr val="2B2B2B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 w="9525">
              <a:solidFill>
                <a:srgbClr val="E3E3E3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  <c:majorUnit val="0.25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0693B8-2BE5-4BB0-9769-955726861FFC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7B239BAE-9897-4C7E-8D43-D21BB38EB506}">
      <dgm:prSet phldrT="[Текст]" custT="1"/>
      <dgm:spPr/>
      <dgm:t>
        <a:bodyPr/>
        <a:lstStyle/>
        <a:p>
          <a:r>
            <a:rPr lang="ru-RU" sz="2400" b="1" dirty="0">
              <a:solidFill>
                <a:schemeClr val="bg1"/>
              </a:solidFill>
            </a:rPr>
            <a:t>Людина</a:t>
          </a:r>
          <a:endParaRPr lang="ru-RU" sz="2400" dirty="0">
            <a:solidFill>
              <a:schemeClr val="bg1"/>
            </a:solidFill>
          </a:endParaRPr>
        </a:p>
      </dgm:t>
    </dgm:pt>
    <dgm:pt modelId="{B6F67118-D69F-41E1-8318-D45DA7CEFAE3}" type="parTrans" cxnId="{7D046120-E690-4E5A-856E-FAFAF2512DD4}">
      <dgm:prSet/>
      <dgm:spPr/>
      <dgm:t>
        <a:bodyPr/>
        <a:lstStyle/>
        <a:p>
          <a:endParaRPr lang="ru-RU"/>
        </a:p>
      </dgm:t>
    </dgm:pt>
    <dgm:pt modelId="{FBB9F9FA-9AB5-486B-B630-7091B9081DE8}" type="sibTrans" cxnId="{7D046120-E690-4E5A-856E-FAFAF2512DD4}">
      <dgm:prSet/>
      <dgm:spPr/>
      <dgm:t>
        <a:bodyPr/>
        <a:lstStyle/>
        <a:p>
          <a:endParaRPr lang="ru-RU"/>
        </a:p>
      </dgm:t>
    </dgm:pt>
    <dgm:pt modelId="{89EA7E36-0250-4760-8C46-381C17285FD4}">
      <dgm:prSet phldrT="[Текст]" custT="1"/>
      <dgm:spPr/>
      <dgm:t>
        <a:bodyPr/>
        <a:lstStyle/>
        <a:p>
          <a:r>
            <a:rPr lang="ru-RU" sz="2400" b="1" dirty="0">
              <a:solidFill>
                <a:schemeClr val="bg1"/>
              </a:solidFill>
            </a:rPr>
            <a:t>Контекст</a:t>
          </a:r>
          <a:endParaRPr lang="ru-RU" sz="2400" dirty="0">
            <a:solidFill>
              <a:schemeClr val="bg1"/>
            </a:solidFill>
          </a:endParaRPr>
        </a:p>
      </dgm:t>
    </dgm:pt>
    <dgm:pt modelId="{2DF821E6-3D32-42EA-B3E8-EF739C7D909D}" type="parTrans" cxnId="{1338ABD0-6947-4AAB-B0B7-197DA8D62CC0}">
      <dgm:prSet/>
      <dgm:spPr/>
      <dgm:t>
        <a:bodyPr/>
        <a:lstStyle/>
        <a:p>
          <a:endParaRPr lang="ru-RU"/>
        </a:p>
      </dgm:t>
    </dgm:pt>
    <dgm:pt modelId="{9167AA52-4C73-4E4E-951D-AF05857255A0}" type="sibTrans" cxnId="{1338ABD0-6947-4AAB-B0B7-197DA8D62CC0}">
      <dgm:prSet/>
      <dgm:spPr/>
      <dgm:t>
        <a:bodyPr/>
        <a:lstStyle/>
        <a:p>
          <a:endParaRPr lang="ru-RU"/>
        </a:p>
      </dgm:t>
    </dgm:pt>
    <dgm:pt modelId="{41E33D1B-0ABF-467C-90F0-BCD16CE65D2F}">
      <dgm:prSet phldrT="[Текст]" custT="1"/>
      <dgm:spPr/>
      <dgm:t>
        <a:bodyPr/>
        <a:lstStyle/>
        <a:p>
          <a:pPr algn="ctr"/>
          <a:r>
            <a:rPr lang="ru-RU" sz="2400" b="1" dirty="0" err="1">
              <a:solidFill>
                <a:schemeClr val="bg1"/>
              </a:solidFill>
            </a:rPr>
            <a:t>Технологія</a:t>
          </a:r>
          <a:endParaRPr lang="ru-RU" sz="1800" dirty="0">
            <a:solidFill>
              <a:schemeClr val="bg1"/>
            </a:solidFill>
          </a:endParaRPr>
        </a:p>
      </dgm:t>
    </dgm:pt>
    <dgm:pt modelId="{B47C74F2-329E-45CB-A3E7-669476431890}" type="parTrans" cxnId="{9D72B6CA-D856-4ABC-9223-45BA63E62BA3}">
      <dgm:prSet/>
      <dgm:spPr/>
      <dgm:t>
        <a:bodyPr/>
        <a:lstStyle/>
        <a:p>
          <a:endParaRPr lang="ru-RU"/>
        </a:p>
      </dgm:t>
    </dgm:pt>
    <dgm:pt modelId="{73E43321-02D9-460F-900A-D0725A065C68}" type="sibTrans" cxnId="{9D72B6CA-D856-4ABC-9223-45BA63E62BA3}">
      <dgm:prSet/>
      <dgm:spPr/>
      <dgm:t>
        <a:bodyPr/>
        <a:lstStyle/>
        <a:p>
          <a:endParaRPr lang="ru-RU"/>
        </a:p>
      </dgm:t>
    </dgm:pt>
    <dgm:pt modelId="{11821307-2B86-4A40-8705-75941C5D7D0F}" type="pres">
      <dgm:prSet presAssocID="{990693B8-2BE5-4BB0-9769-955726861FFC}" presName="compositeShape" presStyleCnt="0">
        <dgm:presLayoutVars>
          <dgm:chMax val="7"/>
          <dgm:dir/>
          <dgm:resizeHandles val="exact"/>
        </dgm:presLayoutVars>
      </dgm:prSet>
      <dgm:spPr/>
    </dgm:pt>
    <dgm:pt modelId="{FB4C99A9-09A4-4878-878A-08DADBD20756}" type="pres">
      <dgm:prSet presAssocID="{7B239BAE-9897-4C7E-8D43-D21BB38EB506}" presName="circ1" presStyleLbl="vennNode1" presStyleIdx="0" presStyleCnt="3"/>
      <dgm:spPr/>
    </dgm:pt>
    <dgm:pt modelId="{68E37668-7FB1-419B-9002-54E0C1A051C4}" type="pres">
      <dgm:prSet presAssocID="{7B239BAE-9897-4C7E-8D43-D21BB38EB506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54DD936-3440-4D2E-86A6-93549651BC0E}" type="pres">
      <dgm:prSet presAssocID="{89EA7E36-0250-4760-8C46-381C17285FD4}" presName="circ2" presStyleLbl="vennNode1" presStyleIdx="1" presStyleCnt="3" custLinFactNeighborX="-2205" custLinFactNeighborY="-2850"/>
      <dgm:spPr/>
    </dgm:pt>
    <dgm:pt modelId="{52FAAFC8-4665-44B4-B9FD-FD0E45F691DA}" type="pres">
      <dgm:prSet presAssocID="{89EA7E36-0250-4760-8C46-381C17285FD4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94F7543B-229D-46C7-B604-FCC5FBC388C9}" type="pres">
      <dgm:prSet presAssocID="{41E33D1B-0ABF-467C-90F0-BCD16CE65D2F}" presName="circ3" presStyleLbl="vennNode1" presStyleIdx="2" presStyleCnt="3" custScaleX="100139"/>
      <dgm:spPr/>
    </dgm:pt>
    <dgm:pt modelId="{289DB666-07D5-40D0-BAC6-39604863799A}" type="pres">
      <dgm:prSet presAssocID="{41E33D1B-0ABF-467C-90F0-BCD16CE65D2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D046120-E690-4E5A-856E-FAFAF2512DD4}" srcId="{990693B8-2BE5-4BB0-9769-955726861FFC}" destId="{7B239BAE-9897-4C7E-8D43-D21BB38EB506}" srcOrd="0" destOrd="0" parTransId="{B6F67118-D69F-41E1-8318-D45DA7CEFAE3}" sibTransId="{FBB9F9FA-9AB5-486B-B630-7091B9081DE8}"/>
    <dgm:cxn modelId="{185C095E-9FBF-408B-AE41-8617B9C7F02E}" type="presOf" srcId="{7B239BAE-9897-4C7E-8D43-D21BB38EB506}" destId="{68E37668-7FB1-419B-9002-54E0C1A051C4}" srcOrd="1" destOrd="0" presId="urn:microsoft.com/office/officeart/2005/8/layout/venn1"/>
    <dgm:cxn modelId="{C5E3F84C-A604-4CA7-9381-74B0242DA3B9}" type="presOf" srcId="{990693B8-2BE5-4BB0-9769-955726861FFC}" destId="{11821307-2B86-4A40-8705-75941C5D7D0F}" srcOrd="0" destOrd="0" presId="urn:microsoft.com/office/officeart/2005/8/layout/venn1"/>
    <dgm:cxn modelId="{6E95DD79-B011-4FE1-8700-2155091D1E92}" type="presOf" srcId="{89EA7E36-0250-4760-8C46-381C17285FD4}" destId="{D54DD936-3440-4D2E-86A6-93549651BC0E}" srcOrd="0" destOrd="0" presId="urn:microsoft.com/office/officeart/2005/8/layout/venn1"/>
    <dgm:cxn modelId="{09D3D7AD-E87D-4BF9-A6FC-7B94BBEAA206}" type="presOf" srcId="{41E33D1B-0ABF-467C-90F0-BCD16CE65D2F}" destId="{94F7543B-229D-46C7-B604-FCC5FBC388C9}" srcOrd="0" destOrd="0" presId="urn:microsoft.com/office/officeart/2005/8/layout/venn1"/>
    <dgm:cxn modelId="{B385F7C1-9BBC-4406-B2A3-9055CC35BAF2}" type="presOf" srcId="{7B239BAE-9897-4C7E-8D43-D21BB38EB506}" destId="{FB4C99A9-09A4-4878-878A-08DADBD20756}" srcOrd="0" destOrd="0" presId="urn:microsoft.com/office/officeart/2005/8/layout/venn1"/>
    <dgm:cxn modelId="{9D72B6CA-D856-4ABC-9223-45BA63E62BA3}" srcId="{990693B8-2BE5-4BB0-9769-955726861FFC}" destId="{41E33D1B-0ABF-467C-90F0-BCD16CE65D2F}" srcOrd="2" destOrd="0" parTransId="{B47C74F2-329E-45CB-A3E7-669476431890}" sibTransId="{73E43321-02D9-460F-900A-D0725A065C68}"/>
    <dgm:cxn modelId="{1338ABD0-6947-4AAB-B0B7-197DA8D62CC0}" srcId="{990693B8-2BE5-4BB0-9769-955726861FFC}" destId="{89EA7E36-0250-4760-8C46-381C17285FD4}" srcOrd="1" destOrd="0" parTransId="{2DF821E6-3D32-42EA-B3E8-EF739C7D909D}" sibTransId="{9167AA52-4C73-4E4E-951D-AF05857255A0}"/>
    <dgm:cxn modelId="{7FDE56D5-F165-439C-BF66-D54CC90C1A28}" type="presOf" srcId="{41E33D1B-0ABF-467C-90F0-BCD16CE65D2F}" destId="{289DB666-07D5-40D0-BAC6-39604863799A}" srcOrd="1" destOrd="0" presId="urn:microsoft.com/office/officeart/2005/8/layout/venn1"/>
    <dgm:cxn modelId="{184554E8-AC43-4AC7-A2ED-E7FA7676630F}" type="presOf" srcId="{89EA7E36-0250-4760-8C46-381C17285FD4}" destId="{52FAAFC8-4665-44B4-B9FD-FD0E45F691DA}" srcOrd="1" destOrd="0" presId="urn:microsoft.com/office/officeart/2005/8/layout/venn1"/>
    <dgm:cxn modelId="{9F683502-8AC2-405F-A418-D426C46BEE07}" type="presParOf" srcId="{11821307-2B86-4A40-8705-75941C5D7D0F}" destId="{FB4C99A9-09A4-4878-878A-08DADBD20756}" srcOrd="0" destOrd="0" presId="urn:microsoft.com/office/officeart/2005/8/layout/venn1"/>
    <dgm:cxn modelId="{C8387EAA-4729-4A61-9521-9243071533CC}" type="presParOf" srcId="{11821307-2B86-4A40-8705-75941C5D7D0F}" destId="{68E37668-7FB1-419B-9002-54E0C1A051C4}" srcOrd="1" destOrd="0" presId="urn:microsoft.com/office/officeart/2005/8/layout/venn1"/>
    <dgm:cxn modelId="{56D29BC4-850D-4CBD-8ED5-041DEE74CB07}" type="presParOf" srcId="{11821307-2B86-4A40-8705-75941C5D7D0F}" destId="{D54DD936-3440-4D2E-86A6-93549651BC0E}" srcOrd="2" destOrd="0" presId="urn:microsoft.com/office/officeart/2005/8/layout/venn1"/>
    <dgm:cxn modelId="{6B9CE89C-D40B-4284-A225-A31BA552024B}" type="presParOf" srcId="{11821307-2B86-4A40-8705-75941C5D7D0F}" destId="{52FAAFC8-4665-44B4-B9FD-FD0E45F691DA}" srcOrd="3" destOrd="0" presId="urn:microsoft.com/office/officeart/2005/8/layout/venn1"/>
    <dgm:cxn modelId="{6371BAD2-BF17-4F4E-A05B-9AAB374A4ABD}" type="presParOf" srcId="{11821307-2B86-4A40-8705-75941C5D7D0F}" destId="{94F7543B-229D-46C7-B604-FCC5FBC388C9}" srcOrd="4" destOrd="0" presId="urn:microsoft.com/office/officeart/2005/8/layout/venn1"/>
    <dgm:cxn modelId="{64222F58-47B8-46CD-84D3-FE39B3A003A9}" type="presParOf" srcId="{11821307-2B86-4A40-8705-75941C5D7D0F}" destId="{289DB666-07D5-40D0-BAC6-39604863799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4C99A9-09A4-4878-878A-08DADBD20756}">
      <dsp:nvSpPr>
        <dsp:cNvPr id="0" name=""/>
        <dsp:cNvSpPr/>
      </dsp:nvSpPr>
      <dsp:spPr>
        <a:xfrm>
          <a:off x="2439529" y="67733"/>
          <a:ext cx="3251200" cy="32512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>
              <a:solidFill>
                <a:schemeClr val="bg1"/>
              </a:solidFill>
            </a:rPr>
            <a:t>Людина</a:t>
          </a:r>
          <a:endParaRPr lang="ru-RU" sz="2400" kern="1200" dirty="0">
            <a:solidFill>
              <a:schemeClr val="bg1"/>
            </a:solidFill>
          </a:endParaRPr>
        </a:p>
      </dsp:txBody>
      <dsp:txXfrm>
        <a:off x="2873023" y="636693"/>
        <a:ext cx="2384213" cy="1463040"/>
      </dsp:txXfrm>
    </dsp:sp>
    <dsp:sp modelId="{D54DD936-3440-4D2E-86A6-93549651BC0E}">
      <dsp:nvSpPr>
        <dsp:cNvPr id="0" name=""/>
        <dsp:cNvSpPr/>
      </dsp:nvSpPr>
      <dsp:spPr>
        <a:xfrm>
          <a:off x="3540982" y="2007074"/>
          <a:ext cx="3251200" cy="32512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>
              <a:solidFill>
                <a:schemeClr val="bg1"/>
              </a:solidFill>
            </a:rPr>
            <a:t>Контекст</a:t>
          </a:r>
          <a:endParaRPr lang="ru-RU" sz="2400" kern="1200" dirty="0">
            <a:solidFill>
              <a:schemeClr val="bg1"/>
            </a:solidFill>
          </a:endParaRPr>
        </a:p>
      </dsp:txBody>
      <dsp:txXfrm>
        <a:off x="4535307" y="2846967"/>
        <a:ext cx="1950720" cy="1788160"/>
      </dsp:txXfrm>
    </dsp:sp>
    <dsp:sp modelId="{94F7543B-229D-46C7-B604-FCC5FBC388C9}">
      <dsp:nvSpPr>
        <dsp:cNvPr id="0" name=""/>
        <dsp:cNvSpPr/>
      </dsp:nvSpPr>
      <dsp:spPr>
        <a:xfrm>
          <a:off x="1264128" y="2099733"/>
          <a:ext cx="3255719" cy="32512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dirty="0" err="1">
              <a:solidFill>
                <a:schemeClr val="bg1"/>
              </a:solidFill>
            </a:rPr>
            <a:t>Технологія</a:t>
          </a:r>
          <a:endParaRPr lang="ru-RU" sz="1800" kern="1200" dirty="0">
            <a:solidFill>
              <a:schemeClr val="bg1"/>
            </a:solidFill>
          </a:endParaRPr>
        </a:p>
      </dsp:txBody>
      <dsp:txXfrm>
        <a:off x="1570708" y="2939626"/>
        <a:ext cx="1953431" cy="1788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‹№›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10/5/2026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38541111-CB2B-4E9A-8CDA-157EE19092C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2E8EF40F-49DD-46B3-B4D0-A7A6AED9CD8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872A2CD0-3757-4431-9F29-D23D8633712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872A2CD0-3757-4431-9F29-D23D8633712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439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872A2CD0-3757-4431-9F29-D23D8633712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292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35312FFB-BF76-4CB7-874A-6718C163C83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CC4D2EF4-D298-4B3D-8AD6-E165C9E8C52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Ante-hoc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(від лат. «до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цього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») —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методи,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роблять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зрозумілою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вже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етапі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її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проектування.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моделі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називають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скляними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скриньками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glass-box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або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внутрішньо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інтерпретованими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 роботи: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Пояснення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 є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додатком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моделі,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воно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є самою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моделлю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Логіка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прийняття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рішення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закладена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її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архітектуру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Приклади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тексту:</a:t>
            </a:r>
            <a:endParaRPr lang="ru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Дерева 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рішень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Trees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Ви бачите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ієрархію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правил «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якщо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-то»,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веде до результату.</a:t>
            </a:r>
          </a:p>
          <a:p>
            <a:pPr lvl="1"/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Баєсівські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списки правил (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Bayesian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Rule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Набори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логічних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умов,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легко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прочитати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людині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Узагальнені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адитивні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моделі (GAM):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Дозволяють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моделювати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нелінійні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зв'язки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зберігаючи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можливість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візуалізувати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внесок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кожної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ознаки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окремо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Post-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hoc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(від лат. «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після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цього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») —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методи,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застосовуються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вже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навчених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моделей,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зазвичай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складних «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чорних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скриньок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нейронні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мережі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випадкові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ліси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щоб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зрозуміти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як вони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працюють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Принцип роботи: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Модель-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вчитель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залишається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незмінною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окремий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алгоритм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аналізує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її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входи та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виходи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щоб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створити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наближене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пояснення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Приклади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тексту:</a:t>
            </a:r>
            <a:endParaRPr lang="ru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(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Shapley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Values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Визначає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внесок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кожної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ознаки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фінальний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прогноз (на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основі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теорії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ігор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/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Anchors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Знаходить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мінімальний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набір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умов, за яких прогноз моделі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залишиться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незмінним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/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Counterfactuals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UA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Контрфакти</a:t>
            </a:r>
            <a:r>
              <a:rPr lang="ru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Показує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найменшу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зміну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вхідних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даних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яка б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змінила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рішення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наприклад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«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Якби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ваш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дохід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був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$5000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вищим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вам би </a:t>
            </a:r>
            <a:r>
              <a:rPr lang="ru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схвалили</a:t>
            </a:r>
            <a:r>
              <a:rPr lang="ru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кредит»).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356A8F93-013B-436B-A286-6E79589DF47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штучному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інтелекті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(ШІ) та машинному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навчанні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термін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(часто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знань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або </a:t>
            </a:r>
            <a:r>
              <a:rPr lang="az-Latn-AZ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 Distillation</a:t>
            </a:r>
            <a:r>
              <a:rPr lang="az-Latn-A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специфічне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наукове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значення,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базується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метафорі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очищення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вилучення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знань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Архітектурна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проектування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навчання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компактної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нейронної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мережі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»), яка структурно або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функціонально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імітує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внутрішні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шари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блоки або потоки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більшої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моделі («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вчителя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»).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Ключові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аспекти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архітектурної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дистиляції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Мімікрія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проміжних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шарів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az-Latn-A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Feature-based Distillation)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звичайній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учень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бачить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лише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вихід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(прогноз).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змушуємо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імітувати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внутрішні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ознак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</a:t>
            </a:r>
            <a:r>
              <a:rPr lang="az-Latn-A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 maps).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Зміна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розмірності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az-Latn-A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Dimensionality Alignment)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вчителя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зазвичай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«широка»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багато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нейронів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шарі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вузька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використовує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спеціальні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математичні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перетворення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наприклад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проєкційні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шари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</a:t>
            </a:r>
            <a:r>
              <a:rPr lang="az-Latn-A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x1),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щоб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привести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широкого шару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вчителя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вузького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шару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дозволяючи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йому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навчатися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внутрішній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складнішої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моделі.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Вибір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топології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 допомогою </a:t>
            </a:r>
            <a:r>
              <a:rPr lang="az-Latn-A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 (Neural Architecture Search)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Сучасна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часто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використовує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ШІ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пошуку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найкращої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Алгоритм автоматично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шукає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комбінацію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шарів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наприклад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використовувати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згортки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де 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увагу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яка б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найкраще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вмістила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в себе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величезної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моделі при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мінімальній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кількості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параметрів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Скорочення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блоків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az-Latn-A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Block-wise Distillation)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Замість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навчання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всієї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мережі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відразу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велика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розбивається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блоки.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Кожен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блок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вчителя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дистилюється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один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компактний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блок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дозволяє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зберегти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ієрархію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обробки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інформації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від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ліній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 складних об'єктів.</a:t>
            </a:r>
          </a:p>
          <a:p>
            <a:br>
              <a:rPr lang="ru-RU" dirty="0"/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Чим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відрізняється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від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простої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дистиляції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Характеристика              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Класична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знань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Архітектурна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Об'єкт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імітації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Фінальна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відповідь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az-Latn-A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Softmax)</a:t>
            </a:r>
            <a:r>
              <a:rPr lang="uk-UA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Внутрішні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ваги,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карти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ознак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Мета                                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Точність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прогнозів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Відтворення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внутрішньої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логіки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структури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Складність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Проста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реалізації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Потребує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складного математичного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узгодження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шарів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Ефективність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Добре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завдань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Краще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зберігає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глибоке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розуміння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моделі</a:t>
            </a:r>
          </a:p>
          <a:p>
            <a:br>
              <a:rPr lang="ru-RU" dirty="0"/>
            </a:br>
            <a:endParaRPr lang="ru-RU" dirty="0"/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Навіщо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потрібно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науці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індустрії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az-Latn-A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Hardware-Aware AI:</a:t>
            </a:r>
            <a:r>
              <a:rPr lang="az-Latn-A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Деякі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працюють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швидко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відеокартах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повільно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мобільних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процесорах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дозволяє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перелити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інтелект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із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серверної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моделі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яка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спеціально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оптимізована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конкретний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чіп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смартфона.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Інтерпретованість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можемо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дистилювати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величезну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чорну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скриньку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незрозумілу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модель)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меншу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прозорішу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легше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простежити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як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приймаються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рішення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Економія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пам'яті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ключовий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метод створення моделей типу </a:t>
            </a:r>
            <a:r>
              <a:rPr lang="az-Latn-A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TinyBERT</a:t>
            </a:r>
            <a:r>
              <a:rPr lang="az-Latn-A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або </a:t>
            </a:r>
            <a:r>
              <a:rPr lang="az-Latn-AZ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MobileNet</a:t>
            </a:r>
            <a:r>
              <a:rPr lang="az-Latn-AZ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кількість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параметрів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зменшується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десятки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без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критичної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втрати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Резюме: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Якщо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знань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спроба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вивчити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підручник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вчителя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архітектурна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дистиляція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спроба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скопіювати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спосіб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мислення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нейронні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зв'язки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вчителя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використовуючи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меншу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кількість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«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мізків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491E05F6-AB5A-473C-9E03-7BB34B4110E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491E05F6-AB5A-473C-9E03-7BB34B4110E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757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Формальна модель A описує m об’єктів k ознаками нейромережі.</a:t>
            </a:r>
          </a:p>
          <a:p>
            <a:r>
              <a:t>- Ментальна модель B описує ті самі об’єкти l ознаками, зрозумілими людині.</a:t>
            </a:r>
          </a:p>
          <a:p>
            <a:r>
              <a:t>- Матриця переходу T мінімізує розбіжність між AT і B.</a:t>
            </a:r>
          </a:p>
          <a:p>
            <a:r>
              <a:t>- Розв’язок дає псевдообернена матриця Мура – Пенроуза.</a:t>
            </a:r>
          </a:p>
          <a:p>
            <a:r>
              <a:t>- Сингулярний розклад дозволяє обчислення і для виродженої матриці A.</a:t>
            </a:r>
          </a:p>
          <a:p>
            <a:r>
              <a:t>- Регуляризація Тихонова гасить вплив малих сингулярних чисел.</a:t>
            </a:r>
          </a:p>
          <a:p>
            <a:r>
              <a:t>- Новий об’єкт пояснюємо множенням його ознак на T.</a:t>
            </a:r>
          </a:p>
          <a:p>
            <a:r>
              <a:t>- У прикладі ЕКГ відносна похибка відтворення близька до 0.5%.</a:t>
            </a:r>
          </a:p>
          <a:p>
            <a:r>
              <a:t>- Товщина лінії показує внесок ознаки нейромережі в ознаку лікаря.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491E05F6-AB5A-473C-9E03-7BB34B4110E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08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491E05F6-AB5A-473C-9E03-7BB34B4110E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9792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Traceability – </a:t>
            </a:r>
            <a:r>
              <a:rPr lang="uk-UA" dirty="0" err="1"/>
              <a:t>простежуванність</a:t>
            </a:r>
            <a:r>
              <a:rPr lang="uk-UA" dirty="0"/>
              <a:t> – можливість простежити передісторію, трасування, верифікація походження. </a:t>
            </a:r>
            <a:r>
              <a:rPr lang="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Traceability Matrix: </a:t>
            </a:r>
            <a:r>
              <a:rPr lang="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Має двовимірну структуру, де рядки відповідають вимогам, а стовпці – тестовим випадкам</a:t>
            </a:r>
            <a:r>
              <a:rPr lang="uk-UA" dirty="0"/>
              <a:t>, </a:t>
            </a:r>
            <a:r>
              <a:rPr lang="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використовуються для відстеження того, які вимоги покриваються тестовими випадками.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491E05F6-AB5A-473C-9E03-7BB34B4110E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367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356A8F93-013B-436B-A286-6E79589DF47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9299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356A8F93-013B-436B-A286-6E79589DF47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282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24EE9-8A19-0770-AA42-8F9ACF79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17F514-CB5F-FC6D-A2BF-EBBCDEE33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F003BC-357D-139A-322E-185EB62E0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27A7E-F472-C7E0-42A9-9DABC0087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Місце для верхнього колонтитула 4">
            <a:extLst>
              <a:ext uri="{FF2B5EF4-FFF2-40B4-BE49-F238E27FC236}">
                <a16:creationId xmlns:a16="http://schemas.microsoft.com/office/drawing/2014/main" id="{20DD145B-D30E-F356-5E45-8271E2C1A65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7694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4813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Верхний колонтитул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737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SEMTRA перетворює приховані ознаки нейромережі на продукційні правила.</a:t>
            </a:r>
          </a:p>
          <a:p>
            <a:r>
              <a:t>- Ознаки центруємо й стискаємо сингулярним розкладом.</a:t>
            </a:r>
          </a:p>
          <a:p>
            <a:r>
              <a:t>- Гребенева регресія дає лінійну матрицю переходу T.</a:t>
            </a:r>
          </a:p>
          <a:p>
            <a:r>
              <a:t>- WEDD обирає стабільні пороги за ентропією та щільністю.</a:t>
            </a:r>
          </a:p>
          <a:p>
            <a:r>
              <a:t>- Грубі множини виділяють певні рішення та зони конфлікту.</a:t>
            </a:r>
          </a:p>
          <a:p>
            <a:r>
              <a:t>- Мінімальні редукти дають короткі правила «ЯКЩО – ТО».</a:t>
            </a:r>
          </a:p>
          <a:p>
            <a:r>
              <a:t>- Конфлікти правил розв’язує інтегральна оцінка підтримки.</a:t>
            </a:r>
          </a:p>
          <a:p>
            <a:r>
              <a:t>- На AwA2 кореляція відтворення атрибутів становить 0.807.</a:t>
            </a:r>
          </a:p>
          <a:p>
            <a:r>
              <a:t>- Книга з 59 правил покриває 84.8% тестових об’єктів.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CINETRA пояснює рішення за кіно-МРТ через сім клінічних концептів серця.</a:t>
            </a:r>
          </a:p>
          <a:p>
            <a:r>
              <a:t>- Ознаки стандартизуємо, а цілі перетворюємо логарифмом або логітом.</a:t>
            </a:r>
          </a:p>
          <a:p>
            <a:r>
              <a:t>- Матрицю переходу будуємо гребеневою регресією з маскою пропусків.</a:t>
            </a:r>
          </a:p>
          <a:p>
            <a:r>
              <a:t>- Якість переносу вимірює частка похибки, усунена переходом.</a:t>
            </a:r>
          </a:p>
          <a:p>
            <a:r>
              <a:t>- Фракції викиду переносяться між центрами краще за об’єми.</a:t>
            </a:r>
          </a:p>
          <a:p>
            <a:r>
              <a:t>- Правило приймається лише за стабільних порогів і достатньої межі Вілсона.</a:t>
            </a:r>
          </a:p>
          <a:p>
            <a:r>
              <a:t>- Тому правила можуть бути згенеровані або ні залежно від даних.</a:t>
            </a:r>
          </a:p>
          <a:p>
            <a:r>
              <a:t>- Повторний запуск відтворив 242 з 252 результатів побайтово.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Аудитуємо класифікатор непрозорості легень на PadChest-GR.</a:t>
            </a:r>
          </a:p>
          <a:p>
            <a:r>
              <a:t>- Реєстр доказів B містить 73 ознаки в чотирьох блоках.</a:t>
            </a:r>
          </a:p>
          <a:p>
            <a:r>
              <a:t>- Кожна клітинка має значення, стан і тип доказу.</a:t>
            </a:r>
          </a:p>
          <a:p>
            <a:r>
              <a:t>- Матриця переходу відтворює 26 із 30 знахідок з AUC щонайменше 0.75.</a:t>
            </a:r>
          </a:p>
          <a:p>
            <a:r>
              <a:t>- Центроїд, відтворений через T, влучає в рамку радіолога у 18.5% випадків.</a:t>
            </a:r>
          </a:p>
          <a:p>
            <a:r>
              <a:t>- Для Grad-CAM цей показник становить лише 4.2%.</a:t>
            </a:r>
          </a:p>
          <a:p>
            <a:r>
              <a:t>- Правило приймається за щонайменше 30 збігів і межі Вілсона 0.75.</a:t>
            </a:r>
          </a:p>
          <a:p>
            <a:r>
              <a:t>- Залежно від умов перевірки правила можуть бути згенеровані або ні.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CARDIA-X пояснює класифікатор ЕКГ мовою 52 клінічних вимірювань.</a:t>
            </a:r>
          </a:p>
          <a:p>
            <a:r>
              <a:t>- Ознаки нейромережі стискаємо методом головних компонент.</a:t>
            </a:r>
          </a:p>
          <a:p>
            <a:r>
              <a:t>- Маскована гребенева регресія відтворює цілі в клінічних одиницях.</a:t>
            </a:r>
          </a:p>
          <a:p>
            <a:r>
              <a:t>- Похибка тривалості QRS становить близько 10 мс.</a:t>
            </a:r>
          </a:p>
          <a:p>
            <a:r>
              <a:t>- Семантичне пояснення зберігає стабільність при зсуві сигналу на 20 мс.</a:t>
            </a:r>
          </a:p>
          <a:p>
            <a:r>
              <a:t>- Градієнтні методи за тих самих умов помітно втрачають стабільність.</a:t>
            </a:r>
          </a:p>
          <a:p>
            <a:r>
              <a:t>- Правила будуються лише для класів, що пройшли перевірку придатності.</a:t>
            </a:r>
          </a:p>
          <a:p>
            <a:r>
              <a:t>- Отже, правила можуть бути згенеровані або ні залежно від даних.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‹№›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emf"/><Relationship Id="rId9" Type="http://schemas.openxmlformats.org/officeDocument/2006/relationships/image" Target="../media/image7.emf"/><Relationship Id="rId10" Type="http://schemas.openxmlformats.org/officeDocument/2006/relationships/image" Target="../media/image8.png"/><Relationship Id="rId11" Type="http://schemas.openxmlformats.org/officeDocument/2006/relationships/image" Target="../media/image9.emf"/><Relationship Id="rId12" Type="http://schemas.openxmlformats.org/officeDocument/2006/relationships/image" Target="../media/image10.emf"/><Relationship Id="rId13" Type="http://schemas.openxmlformats.org/officeDocument/2006/relationships/image" Target="../media/image11.emf"/><Relationship Id="rId14" Type="http://schemas.openxmlformats.org/officeDocument/2006/relationships/image" Target="../media/image12.emf"/><Relationship Id="rId15" Type="http://schemas.openxmlformats.org/officeDocument/2006/relationships/image" Target="../media/image13.emf"/><Relationship Id="rId16" Type="http://schemas.openxmlformats.org/officeDocument/2006/relationships/image" Target="../media/image14.emf"/><Relationship Id="rId17" Type="http://schemas.openxmlformats.org/officeDocument/2006/relationships/image" Target="../media/image15.emf"/><Relationship Id="rId18" Type="http://schemas.openxmlformats.org/officeDocument/2006/relationships/image" Target="../media/image16.emf"/><Relationship Id="rId19" Type="http://schemas.openxmlformats.org/officeDocument/2006/relationships/image" Target="../media/image17.emf"/><Relationship Id="rId20" Type="http://schemas.openxmlformats.org/officeDocument/2006/relationships/image" Target="../media/image18.emf"/><Relationship Id="rId21" Type="http://schemas.openxmlformats.org/officeDocument/2006/relationships/image" Target="../media/image19.emf"/><Relationship Id="rId22" Type="http://schemas.openxmlformats.org/officeDocument/2006/relationships/image" Target="../media/image20.emf"/><Relationship Id="rId23" Type="http://schemas.openxmlformats.org/officeDocument/2006/relationships/image" Target="../media/image21.emf"/><Relationship Id="rId24" Type="http://schemas.openxmlformats.org/officeDocument/2006/relationships/image" Target="../media/image22.emf"/><Relationship Id="rId25" Type="http://schemas.openxmlformats.org/officeDocument/2006/relationships/image" Target="../media/image23.emf"/><Relationship Id="rId26" Type="http://schemas.openxmlformats.org/officeDocument/2006/relationships/image" Target="../media/image24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26.emf"/><Relationship Id="rId5" Type="http://schemas.openxmlformats.org/officeDocument/2006/relationships/image" Target="../media/image27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emf"/><Relationship Id="rId4" Type="http://schemas.openxmlformats.org/officeDocument/2006/relationships/image" Target="../media/image37.emf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emf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image" Target="../media/image45.png"/><Relationship Id="rId13" Type="http://schemas.openxmlformats.org/officeDocument/2006/relationships/image" Target="../media/image46.png"/><Relationship Id="rId14" Type="http://schemas.openxmlformats.org/officeDocument/2006/relationships/image" Target="../media/image47.png"/><Relationship Id="rId15" Type="http://schemas.openxmlformats.org/officeDocument/2006/relationships/image" Target="../media/image4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emf"/><Relationship Id="rId4" Type="http://schemas.openxmlformats.org/officeDocument/2006/relationships/image" Target="../media/image50.emf"/><Relationship Id="rId5" Type="http://schemas.openxmlformats.org/officeDocument/2006/relationships/image" Target="../media/image51.emf"/><Relationship Id="rId6" Type="http://schemas.openxmlformats.org/officeDocument/2006/relationships/image" Target="../media/image52.emf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6.png"/><Relationship Id="rId4" Type="http://schemas.openxmlformats.org/officeDocument/2006/relationships/image" Target="../media/image60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5" Type="http://schemas.openxmlformats.org/officeDocument/2006/relationships/image" Target="../media/image60.emf"/><Relationship Id="rId6" Type="http://schemas.openxmlformats.org/officeDocument/2006/relationships/image" Target="../media/image61.emf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68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Relationship Id="rId14" Type="http://schemas.openxmlformats.org/officeDocument/2006/relationships/image" Target="../media/image115.png"/><Relationship Id="rId15" Type="http://schemas.openxmlformats.org/officeDocument/2006/relationships/image" Target="../media/image116.png"/><Relationship Id="rId16" Type="http://schemas.openxmlformats.org/officeDocument/2006/relationships/image" Target="../media/image117.png"/><Relationship Id="rId17" Type="http://schemas.openxmlformats.org/officeDocument/2006/relationships/hyperlink" Target="https://doi.org/10.3390/math12071024" TargetMode="External"/><Relationship Id="rId18" Type="http://schemas.openxmlformats.org/officeDocument/2006/relationships/hyperlink" Target="https://doi.org/10.3389/frai.2024.1482141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5.png"/><Relationship Id="rId4" Type="http://schemas.openxmlformats.org/officeDocument/2006/relationships/hyperlink" Target="https://doi.org/10.3390/drones9110743" TargetMode="External"/><Relationship Id="rId5" Type="http://schemas.openxmlformats.org/officeDocument/2006/relationships/hyperlink" Target="https://doi.org/10.3390/technologies13010034" TargetMode="External"/><Relationship Id="rId6" Type="http://schemas.openxmlformats.org/officeDocument/2006/relationships/hyperlink" Target="https://doi.org/10.20944/preprints202501.1280.v1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8.emf"/><Relationship Id="rId4" Type="http://schemas.openxmlformats.org/officeDocument/2006/relationships/image" Target="../media/image79.emf"/><Relationship Id="rId5" Type="http://schemas.openxmlformats.org/officeDocument/2006/relationships/image" Target="../media/image80.emf"/><Relationship Id="rId6" Type="http://schemas.openxmlformats.org/officeDocument/2006/relationships/image" Target="../media/image81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2.emf"/><Relationship Id="rId4" Type="http://schemas.openxmlformats.org/officeDocument/2006/relationships/image" Target="../media/image83.emf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8.emf"/><Relationship Id="rId3" Type="http://schemas.openxmlformats.org/officeDocument/2006/relationships/image" Target="../media/image89.emf"/><Relationship Id="rId4" Type="http://schemas.openxmlformats.org/officeDocument/2006/relationships/image" Target="../media/image90.em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emf"/><Relationship Id="rId7" Type="http://schemas.openxmlformats.org/officeDocument/2006/relationships/image" Target="../media/image100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Relationship Id="rId10" Type="http://schemas.openxmlformats.org/officeDocument/2006/relationships/image" Target="../media/image108.png"/><Relationship Id="rId11" Type="http://schemas.openxmlformats.org/officeDocument/2006/relationships/image" Target="../media/image109.png"/><Relationship Id="rId12" Type="http://schemas.openxmlformats.org/officeDocument/2006/relationships/image" Target="../media/image110.png"/><Relationship Id="rId13" Type="http://schemas.openxmlformats.org/officeDocument/2006/relationships/image" Target="../media/image111.png"/><Relationship Id="rId14" Type="http://schemas.openxmlformats.org/officeDocument/2006/relationships/image" Target="../media/image112.png"/><Relationship Id="rId15" Type="http://schemas.openxmlformats.org/officeDocument/2006/relationships/image" Target="../media/image113.png"/><Relationship Id="rId16" Type="http://schemas.openxmlformats.org/officeDocument/2006/relationships/image" Target="../media/image1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i.org/10.3390/futuretransp5040152" TargetMode="External"/><Relationship Id="rId4" Type="http://schemas.openxmlformats.org/officeDocument/2006/relationships/hyperlink" Target="https://doi.org/10.32620/reks.2025.3.11" TargetMode="External"/><Relationship Id="rId5" Type="http://schemas.openxmlformats.org/officeDocument/2006/relationships/hyperlink" Target="https://doi.org/10.3390/drones9110743" TargetMode="External"/><Relationship Id="rId6" Type="http://schemas.openxmlformats.org/officeDocument/2006/relationships/hyperlink" Target="https://doi.org/10.3390/make7030081" TargetMode="External"/><Relationship Id="rId7" Type="http://schemas.openxmlformats.org/officeDocument/2006/relationships/hyperlink" Target="https://doi.org/10.3390/technologies13010034" TargetMode="External"/><Relationship Id="rId8" Type="http://schemas.openxmlformats.org/officeDocument/2006/relationships/hyperlink" Target="https://doi.org/10.3389/frai.2024.1482141" TargetMode="External"/><Relationship Id="rId9" Type="http://schemas.openxmlformats.org/officeDocument/2006/relationships/hyperlink" Target="https://doi.org/10.3390/math12071024" TargetMode="External"/><Relationship Id="rId10" Type="http://schemas.openxmlformats.org/officeDocument/2006/relationships/hyperlink" Target="https://www.mdpi.com/2227-7390/12/7/1024" TargetMode="External"/><Relationship Id="rId11" Type="http://schemas.openxmlformats.org/officeDocument/2006/relationships/hyperlink" Target="https://doi.org/10.1111/coin.12289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Relationship Id="rId11" Type="http://schemas.openxmlformats.org/officeDocument/2006/relationships/image" Target="../media/image127.png"/><Relationship Id="rId12" Type="http://schemas.openxmlformats.org/officeDocument/2006/relationships/image" Target="../media/image128.png"/><Relationship Id="rId13" Type="http://schemas.openxmlformats.org/officeDocument/2006/relationships/image" Target="../media/image129.png"/><Relationship Id="rId14" Type="http://schemas.openxmlformats.org/officeDocument/2006/relationships/image" Target="../media/image130.png"/><Relationship Id="rId15" Type="http://schemas.openxmlformats.org/officeDocument/2006/relationships/chart" Target="../charts/chart1.xml"/><Relationship Id="rId16" Type="http://schemas.openxmlformats.org/officeDocument/2006/relationships/hyperlink" Target="https://doi.org/10.3390/make8070181" TargetMode="External"/><Relationship Id="rId17" Type="http://schemas.openxmlformats.org/officeDocument/2006/relationships/hyperlink" Target="https://doi.org/10.3390/math12071024" TargetMode="External"/><Relationship Id="rId18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Relationship Id="rId8" Type="http://schemas.openxmlformats.org/officeDocument/2006/relationships/chart" Target="../charts/chart2.xml"/><Relationship Id="rId9" Type="http://schemas.openxmlformats.org/officeDocument/2006/relationships/image" Target="../media/image137.png"/><Relationship Id="rId10" Type="http://schemas.openxmlformats.org/officeDocument/2006/relationships/image" Target="../media/image138.png"/><Relationship Id="rId11" Type="http://schemas.openxmlformats.org/officeDocument/2006/relationships/image" Target="../media/image139.png"/><Relationship Id="rId12" Type="http://schemas.openxmlformats.org/officeDocument/2006/relationships/hyperlink" Target="https://doi.org/10.36059/978-966-397-656-3" TargetMode="External"/><Relationship Id="rId13" Type="http://schemas.openxmlformats.org/officeDocument/2006/relationships/hyperlink" Target="https://doi.org/10.3390/make8070181" TargetMode="External"/><Relationship Id="rId14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144.png"/><Relationship Id="rId7" Type="http://schemas.openxmlformats.org/officeDocument/2006/relationships/image" Target="../media/image145.png"/><Relationship Id="rId8" Type="http://schemas.openxmlformats.org/officeDocument/2006/relationships/image" Target="../media/image146.png"/><Relationship Id="rId9" Type="http://schemas.openxmlformats.org/officeDocument/2006/relationships/image" Target="../media/image147.png"/><Relationship Id="rId10" Type="http://schemas.openxmlformats.org/officeDocument/2006/relationships/chart" Target="../charts/chart3.xml"/><Relationship Id="rId11" Type="http://schemas.openxmlformats.org/officeDocument/2006/relationships/image" Target="../media/image148.png"/><Relationship Id="rId12" Type="http://schemas.openxmlformats.org/officeDocument/2006/relationships/hyperlink" Target="https://doi.org/10.3390/make8070181" TargetMode="External"/><Relationship Id="rId13" Type="http://schemas.openxmlformats.org/officeDocument/2006/relationships/hyperlink" Target="https://doi.org/10.3389/frai.2024.1482141" TargetMode="External"/><Relationship Id="rId14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9.png"/><Relationship Id="rId3" Type="http://schemas.openxmlformats.org/officeDocument/2006/relationships/image" Target="../media/image150.png"/><Relationship Id="rId4" Type="http://schemas.openxmlformats.org/officeDocument/2006/relationships/image" Target="../media/image151.png"/><Relationship Id="rId5" Type="http://schemas.openxmlformats.org/officeDocument/2006/relationships/image" Target="../media/image152.png"/><Relationship Id="rId6" Type="http://schemas.openxmlformats.org/officeDocument/2006/relationships/image" Target="../media/image153.png"/><Relationship Id="rId7" Type="http://schemas.openxmlformats.org/officeDocument/2006/relationships/chart" Target="../charts/chart4.xml"/><Relationship Id="rId8" Type="http://schemas.openxmlformats.org/officeDocument/2006/relationships/image" Target="../media/image154.png"/><Relationship Id="rId9" Type="http://schemas.openxmlformats.org/officeDocument/2006/relationships/image" Target="../media/image155.png"/><Relationship Id="rId10" Type="http://schemas.openxmlformats.org/officeDocument/2006/relationships/image" Target="../media/image156.png"/><Relationship Id="rId11" Type="http://schemas.openxmlformats.org/officeDocument/2006/relationships/image" Target="../media/image157.png"/><Relationship Id="rId12" Type="http://schemas.openxmlformats.org/officeDocument/2006/relationships/image" Target="../media/image158.png"/><Relationship Id="rId13" Type="http://schemas.openxmlformats.org/officeDocument/2006/relationships/image" Target="../media/image159.png"/><Relationship Id="rId14" Type="http://schemas.openxmlformats.org/officeDocument/2006/relationships/hyperlink" Target="https://doi.org/10.3390/ai7090376" TargetMode="External"/><Relationship Id="rId15" Type="http://schemas.openxmlformats.org/officeDocument/2006/relationships/hyperlink" Target="https://doi.org/10.3390/technologies13010034" TargetMode="External"/><Relationship Id="rId16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5255" y="638209"/>
            <a:ext cx="10219752" cy="2120349"/>
          </a:xfrm>
        </p:spPr>
        <p:txBody>
          <a:bodyPr/>
          <a:lstStyle/>
          <a:p>
            <a:pPr algn="ctr"/>
            <a:r>
              <a:rPr lang="uk-UA" dirty="0">
                <a:solidFill>
                  <a:srgbClr val="002060"/>
                </a:solidFill>
              </a:rPr>
              <a:t>Людино-центрований штучний інтелект </a:t>
            </a:r>
            <a:br>
              <a:rPr lang="uk-UA" dirty="0">
                <a:solidFill>
                  <a:srgbClr val="002060"/>
                </a:solidFill>
              </a:rPr>
            </a:br>
            <a:r>
              <a:rPr lang="uk-UA" dirty="0">
                <a:solidFill>
                  <a:srgbClr val="002060"/>
                </a:solidFill>
              </a:rPr>
              <a:t>та його застосування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B5D7A6C-6F88-AE6F-C557-75BA7B78DF5C}"/>
              </a:ext>
            </a:extLst>
          </p:cNvPr>
          <p:cNvSpPr txBox="1">
            <a:spLocks/>
          </p:cNvSpPr>
          <p:nvPr/>
        </p:nvSpPr>
        <p:spPr>
          <a:xfrm>
            <a:off x="816321" y="4893793"/>
            <a:ext cx="11181347" cy="196420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uk-UA" sz="2400" b="0" i="1" dirty="0"/>
          </a:p>
          <a:p>
            <a:endParaRPr lang="uk-UA" sz="2400" b="0" i="1" dirty="0"/>
          </a:p>
          <a:p>
            <a:r>
              <a:rPr lang="uk-UA" sz="2400" b="0" i="1" dirty="0"/>
              <a:t> </a:t>
            </a:r>
            <a:r>
              <a:rPr lang="uk-UA" sz="1800" b="0" i="1" dirty="0" err="1"/>
              <a:t>В.М.Глушков</a:t>
            </a:r>
            <a:r>
              <a:rPr lang="uk-UA" sz="1800" b="0" i="1" dirty="0"/>
              <a:t> </a:t>
            </a:r>
            <a:r>
              <a:rPr lang="en-US" sz="1800" b="0" i="1" dirty="0"/>
              <a:t>“</a:t>
            </a:r>
            <a:r>
              <a:rPr lang="uk-UA" sz="1800" b="0" i="1" dirty="0"/>
              <a:t>Кібернетика – любов моя</a:t>
            </a:r>
            <a:r>
              <a:rPr lang="en-US" sz="1800" b="0" i="1" dirty="0"/>
              <a:t>”</a:t>
            </a:r>
            <a:r>
              <a:rPr lang="uk-UA" sz="1800" b="0" i="1" dirty="0"/>
              <a:t>(1977) :</a:t>
            </a:r>
          </a:p>
          <a:p>
            <a:pPr marL="342900" indent="-342900">
              <a:buFontTx/>
              <a:buChar char="-"/>
            </a:pPr>
            <a:r>
              <a:rPr lang="uk-UA" sz="1800" i="1" dirty="0"/>
              <a:t>Проблема штучного інтелекту, моделювання інтелектуальної діяльності</a:t>
            </a:r>
            <a:r>
              <a:rPr lang="uk-UA" sz="1800" b="0" i="1" dirty="0"/>
              <a:t> – ось що цікавить мене в кібернетиці більш за все</a:t>
            </a:r>
            <a:r>
              <a:rPr lang="uk-UA" sz="1600" b="0" i="1" dirty="0"/>
              <a:t>;</a:t>
            </a:r>
          </a:p>
          <a:p>
            <a:pPr marL="342900" indent="-342900">
              <a:buFontTx/>
              <a:buChar char="-"/>
            </a:pPr>
            <a:r>
              <a:rPr lang="uk-UA" sz="1800" b="0" i="1" dirty="0"/>
              <a:t>Теоретичні роботи в області кібернетики групуються навколо </a:t>
            </a:r>
            <a:r>
              <a:rPr lang="uk-UA" sz="1800" i="1" dirty="0"/>
              <a:t>проблем штучного інтелекту</a:t>
            </a:r>
            <a:r>
              <a:rPr lang="uk-UA" sz="1800" b="0" i="1" dirty="0"/>
              <a:t>;</a:t>
            </a:r>
          </a:p>
          <a:p>
            <a:pPr marL="342900" indent="-342900">
              <a:buFontTx/>
              <a:buChar char="-"/>
            </a:pPr>
            <a:r>
              <a:rPr lang="uk-UA" sz="1800" b="0" i="1" dirty="0"/>
              <a:t>… медична кібернетика </a:t>
            </a:r>
            <a:r>
              <a:rPr lang="uk-UA" sz="1800" i="1" dirty="0"/>
              <a:t>завдяки комплексному моделюванню </a:t>
            </a:r>
            <a:r>
              <a:rPr lang="uk-UA" sz="1800" b="0" i="1" dirty="0"/>
              <a:t>… надає допомогу лікарям при лікуванні хворих, особливо у критичних ситуаціях…</a:t>
            </a:r>
          </a:p>
          <a:p>
            <a:pPr marL="342900" indent="-342900">
              <a:buFontTx/>
              <a:buChar char="-"/>
            </a:pPr>
            <a:endParaRPr lang="en-US" sz="2400" b="0" i="1" dirty="0"/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38122665-CD07-0B9E-CA3C-D95A688064D9}"/>
              </a:ext>
            </a:extLst>
          </p:cNvPr>
          <p:cNvSpPr/>
          <p:nvPr/>
        </p:nvSpPr>
        <p:spPr>
          <a:xfrm>
            <a:off x="433870" y="2954801"/>
            <a:ext cx="1090986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000" b="1" dirty="0">
                <a:solidFill>
                  <a:schemeClr val="bg1"/>
                </a:solidFill>
              </a:rPr>
              <a:t>КРАК </a:t>
            </a:r>
            <a:r>
              <a:rPr lang="uk-UA" sz="3000" b="1" noProof="0" dirty="0">
                <a:solidFill>
                  <a:schemeClr val="bg1"/>
                </a:solidFill>
              </a:rPr>
              <a:t>Юрій Васильович</a:t>
            </a:r>
            <a:r>
              <a:rPr lang="uk-UA" sz="2400" b="1" noProof="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uk-UA" sz="2400" b="1" noProof="0" dirty="0">
                <a:solidFill>
                  <a:schemeClr val="bg1"/>
                </a:solidFill>
              </a:rPr>
              <a:t>член-кореспондент НАН України, </a:t>
            </a:r>
            <a:br>
              <a:rPr lang="uk-UA" sz="2400" b="1" noProof="0" dirty="0">
                <a:solidFill>
                  <a:schemeClr val="bg1"/>
                </a:solidFill>
              </a:rPr>
            </a:br>
            <a:r>
              <a:rPr lang="uk-UA" sz="2400" b="1" noProof="0" dirty="0">
                <a:solidFill>
                  <a:schemeClr val="bg1"/>
                </a:solidFill>
              </a:rPr>
              <a:t>доктор фізико-математичних наук, професор</a:t>
            </a: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r>
              <a:rPr lang="uk-UA" b="1" dirty="0">
                <a:solidFill>
                  <a:schemeClr val="bg1"/>
                </a:solidFill>
              </a:rPr>
              <a:t>Київський національний університет імені Тараса Шевченка, </a:t>
            </a:r>
            <a:br>
              <a:rPr lang="uk-UA" b="1" dirty="0">
                <a:solidFill>
                  <a:schemeClr val="bg1"/>
                </a:solidFill>
              </a:rPr>
            </a:br>
            <a:r>
              <a:rPr lang="uk-UA" b="1" dirty="0">
                <a:solidFill>
                  <a:schemeClr val="bg1"/>
                </a:solidFill>
              </a:rPr>
              <a:t>Інститут кібернетики імені В.М.Глушкова НАН України</a:t>
            </a:r>
            <a:endParaRPr lang="uk-UA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8F050C-47F6-342E-D96F-1FEEC473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56" y="15060"/>
            <a:ext cx="10817524" cy="614668"/>
          </a:xfrm>
        </p:spPr>
        <p:txBody>
          <a:bodyPr/>
          <a:lstStyle/>
          <a:p>
            <a:r>
              <a:rPr lang="uk-UA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Анотація</a:t>
            </a:r>
            <a:endParaRPr lang="LID4096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0C4F16A-0713-8745-73EA-F3FDC76959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715992"/>
            <a:ext cx="12102859" cy="6402526"/>
          </a:xfrm>
        </p:spPr>
        <p:txBody>
          <a:bodyPr>
            <a:normAutofit fontScale="25000" lnSpcReduction="20000"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uk-UA" sz="86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основі представленого дослідження лежить перехід від концепції штучного інтелекту (ШІ) як «чорної скриньки» до людино-центрованого підходу (HCAI) та пояснюваного ШІ (XAI).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uk-UA" sz="86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Проблема сучасних нейромереж полягає в дилемі: висока точність часто означає низьку інтерпретованість.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uk-UA" sz="86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доповіді пропонується стратегію «білої скриньки», яка базується на тріаді: </a:t>
            </a:r>
            <a:br>
              <a:rPr lang="en-US" sz="86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uk-UA" sz="86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Людина – Технологія – Контекст.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uk-UA" sz="86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Математичний апарат дослідження включає методи математичного наближення (використання матриць переходу та псевдообернення), структурний розклад моделей та архітектурну дистиляцію.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uk-UA" sz="8600" b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Ключовою інновацією є схема синхронізації формальних моделей з ментальними моделями людини</a:t>
            </a:r>
            <a:r>
              <a:rPr lang="uk-UA" sz="8600" b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" sz="8600" b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uk-UA" sz="6400" b="0" dirty="0">
                <a:solidFill>
                  <a:srgbClr val="EE0000"/>
                </a:solidFill>
              </a:rPr>
              <a:t>Впровадження HCAI у доменах, де помилка коштує надто дорого:</a:t>
            </a:r>
            <a:endParaRPr lang="" sz="6400" b="0" dirty="0">
              <a:solidFill>
                <a:srgbClr val="EE0000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1. Медицина (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Кардіологія</a:t>
            </a:r>
            <a:r>
              <a:rPr lang="uk-UA" sz="6400" dirty="0">
                <a:solidFill>
                  <a:srgbClr val="040708"/>
                </a:solidFill>
              </a:rPr>
              <a:t>): Розроблено пояснювальні системи для аналізу МРТ та ЕКГ. У кардіо-МРТ реалізовано технологічний стек від пошуку зони інтересу до сегментації шлуночків, що забезпечує клінічну високу валідність. У сфері ЕКГ ШІ надає розшифровку і пропонує варіант діагнозу, вказуючи конкретну причину, що дозволяє лікарю довіряти такому висновку.</a:t>
            </a:r>
            <a:endParaRPr lang="" sz="6400" dirty="0">
              <a:solidFill>
                <a:srgbClr val="040708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2. 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Безпека та БПЛА</a:t>
            </a:r>
            <a:r>
              <a:rPr lang="uk-UA" sz="6400" dirty="0">
                <a:solidFill>
                  <a:srgbClr val="040708"/>
                </a:solidFill>
              </a:rPr>
              <a:t>: Створено комплексні рішення для автономної навігації дронів в умовах активного РЕБ та відсутності GPS. ШІ розуміє візуальні структури як типи об’єктів, що дозволяє здійснювати співставлення супутникових знімків із даними з дронів в реальному часі з урахуванням пір року і погодних умов.</a:t>
            </a:r>
            <a:endParaRPr lang="" sz="6400" dirty="0">
              <a:solidFill>
                <a:srgbClr val="040708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3. 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Екологія та Smart City</a:t>
            </a:r>
            <a:r>
              <a:rPr lang="uk-UA" sz="6400" dirty="0">
                <a:solidFill>
                  <a:srgbClr val="040708"/>
                </a:solidFill>
              </a:rPr>
              <a:t>: Застосовано пояснювальне навчання з підкріпленням для екологічного управління трафіком. Результати показують зменшення викидів CO2 на 12.6% та скорочення черг на дорогах на 30%.</a:t>
            </a:r>
            <a:endParaRPr lang="" sz="6400" dirty="0">
              <a:solidFill>
                <a:srgbClr val="040708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4. 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Аналіз соціальних комунікацій</a:t>
            </a:r>
            <a:r>
              <a:rPr lang="uk-UA" sz="6400" dirty="0">
                <a:solidFill>
                  <a:srgbClr val="040708"/>
                </a:solidFill>
              </a:rPr>
              <a:t>: Розроблено методи детекції політичної пропаганди та кібербулінгу, що є критичним для інформаційної безпеки держави</a:t>
            </a:r>
            <a:endParaRPr lang="" sz="6400" dirty="0">
              <a:solidFill>
                <a:srgbClr val="040708"/>
              </a:solidFill>
            </a:endParaRPr>
          </a:p>
          <a:p>
            <a:pPr marL="0" indent="0">
              <a:buNone/>
            </a:pPr>
            <a:r>
              <a:rPr lang="uk-UA" sz="6400" dirty="0">
                <a:solidFill>
                  <a:srgbClr val="EE0000"/>
                </a:solidFill>
              </a:rPr>
              <a:t>Зацікавлені сторони у впровадженні результатів дослідження</a:t>
            </a:r>
            <a:r>
              <a:rPr lang="uk-UA" sz="6400" dirty="0"/>
              <a:t>:</a:t>
            </a:r>
            <a:endParaRPr lang="" sz="6400" dirty="0"/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1. 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Медичні центри</a:t>
            </a:r>
            <a:r>
              <a:rPr lang="uk-UA" sz="6400" dirty="0">
                <a:solidFill>
                  <a:srgbClr val="040708"/>
                </a:solidFill>
              </a:rPr>
              <a:t>: зацікавлені в інструментах «підтвердження діагнозу», які мають юридичне та логічне обґрунтування.</a:t>
            </a:r>
            <a:endParaRPr lang="" sz="6400" dirty="0">
              <a:solidFill>
                <a:srgbClr val="040708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2. 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Сектор оборони та розробники БПЛА</a:t>
            </a:r>
            <a:r>
              <a:rPr lang="uk-UA" sz="6400" dirty="0">
                <a:solidFill>
                  <a:srgbClr val="040708"/>
                </a:solidFill>
              </a:rPr>
              <a:t>: реальне впровадження методів навігації без GPS є критичним для виконання бойових завдань.</a:t>
            </a:r>
            <a:endParaRPr lang="" sz="6400" dirty="0">
              <a:solidFill>
                <a:srgbClr val="040708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3. 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Муніципальні органи влади</a:t>
            </a:r>
            <a:r>
              <a:rPr lang="uk-UA" sz="6400" dirty="0">
                <a:solidFill>
                  <a:srgbClr val="040708"/>
                </a:solidFill>
              </a:rPr>
              <a:t>: впровадження інтелектуальних транспортних систем для покращення екології та логістики.</a:t>
            </a:r>
            <a:endParaRPr lang="" sz="6400" dirty="0">
              <a:solidFill>
                <a:srgbClr val="040708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uk-UA" sz="6400" dirty="0">
                <a:solidFill>
                  <a:srgbClr val="040708"/>
                </a:solidFill>
              </a:rPr>
              <a:t>4. </a:t>
            </a:r>
            <a:r>
              <a:rPr lang="uk-UA" sz="6400" dirty="0">
                <a:solidFill>
                  <a:srgbClr val="040708"/>
                </a:solidFill>
                <a:highlight>
                  <a:srgbClr val="FFFF00"/>
                </a:highlight>
              </a:rPr>
              <a:t>Державні інституції з кібербезпеки</a:t>
            </a:r>
            <a:r>
              <a:rPr lang="uk-UA" sz="6400" dirty="0">
                <a:solidFill>
                  <a:srgbClr val="040708"/>
                </a:solidFill>
              </a:rPr>
              <a:t>: для моніторингу та протидії інформаційним загрозам у соцмережах</a:t>
            </a:r>
            <a:r>
              <a:rPr lang="uk-UA" sz="6400" dirty="0"/>
              <a:t>.</a:t>
            </a:r>
            <a:endParaRPr lang="" sz="6400" dirty="0"/>
          </a:p>
          <a:p>
            <a:endParaRPr lang="LID4096" dirty="0"/>
          </a:p>
        </p:txBody>
      </p:sp>
      <p:sp>
        <p:nvSpPr>
          <p:cNvPr id="6" name="Місце для номера слайда 3">
            <a:extLst>
              <a:ext uri="{FF2B5EF4-FFF2-40B4-BE49-F238E27FC236}">
                <a16:creationId xmlns:a16="http://schemas.microsoft.com/office/drawing/2014/main" id="{25527A2B-33AC-57C3-B0EA-20039DE128B7}"/>
              </a:ext>
            </a:extLst>
          </p:cNvPr>
          <p:cNvSpPr txBox="1">
            <a:spLocks/>
          </p:cNvSpPr>
          <p:nvPr/>
        </p:nvSpPr>
        <p:spPr>
          <a:xfrm>
            <a:off x="11455015" y="278129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4A09A9-5501-47C1-A89A-A340965A2BE2}" type="slidenum">
              <a:rPr lang="en-US" sz="3200" smtClean="0"/>
              <a:pPr/>
              <a:t>2</a:t>
            </a:fld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5435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128050A-0577-488D-B24A-D652C4950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0" y="0"/>
            <a:ext cx="11723756" cy="6858000"/>
          </a:xfrm>
          <a:prstGeom prst="rect">
            <a:avLst/>
          </a:prstGeom>
        </p:spPr>
      </p:pic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6C275763-EA5F-400C-9F29-1732C2F409E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277600" y="189572"/>
            <a:ext cx="680278" cy="486289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3</a:t>
            </a:fld>
            <a:endParaRPr lang="en-US" sz="3200" dirty="0">
              <a:latin typeface="+mn-lt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D0E2DD2-25C9-4A7F-8E0B-285C9BE708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918" y="549195"/>
            <a:ext cx="4582164" cy="62873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6E265B7-9AF3-433D-B748-1E796BF49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2813" y="189572"/>
            <a:ext cx="1368949" cy="134798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0B4F2F3-B256-4503-A136-6CB06D64C7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1244" y="196320"/>
            <a:ext cx="1341236" cy="134123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1F70E29-BCB0-48AC-AC4E-DC864428C1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7129" y="1653559"/>
            <a:ext cx="2960485" cy="3086848"/>
          </a:xfrm>
          <a:prstGeom prst="rect">
            <a:avLst/>
          </a:prstGeom>
          <a:effectLst>
            <a:softEdge rad="215900"/>
          </a:effec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875D274-80D0-417B-957E-87B49A0967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7642" y="1553171"/>
            <a:ext cx="1268804" cy="1584449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74EAA58-87E2-48B3-B8E2-D7F1E7DAEE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1114" y="1643974"/>
            <a:ext cx="1268803" cy="1528555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A9FBFE8-C5D2-4B37-B85A-DB5D5FC0945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742" y="1775448"/>
            <a:ext cx="920619" cy="1397081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A993D73-B9C7-4E1F-87DB-FB6986C0D1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0523" y="1677375"/>
            <a:ext cx="1174280" cy="1446834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71D1815-C9F9-4321-A6A7-6B5AE6D58A5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95771" y="3476216"/>
            <a:ext cx="1180562" cy="1266760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453F754-91BC-430D-A355-6F2DECEE3C8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09434" y="4981012"/>
            <a:ext cx="1062512" cy="1397081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7D862FD-0E34-4E4B-BBCF-92342F4A3E3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7699" y="3468383"/>
            <a:ext cx="1276079" cy="1173528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1B31C5BA-A84D-4E91-9B48-B3C4B590C52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30782" y="5259204"/>
            <a:ext cx="1428275" cy="1309717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34F4DEE-2698-4562-8F70-D0674783F95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9104" y="4986086"/>
            <a:ext cx="1055699" cy="1322709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41F9FDA-EED8-4533-8E2B-2562C2ECA8E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57355" y="3346129"/>
            <a:ext cx="1183158" cy="1452232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9A4693B-02CD-4C69-9B27-77584264AED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23363" y="1727128"/>
            <a:ext cx="1448440" cy="1445401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46862AD-6480-42F3-AF6B-2813EA02EE0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82076" y="1508340"/>
            <a:ext cx="1046902" cy="1689634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F4A0D94C-B867-4339-A6CF-289FCFADDB8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17590" y="3256501"/>
            <a:ext cx="1229130" cy="1737616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B1734716-91BC-431F-9D59-78DEA0F1296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2344" y="3196983"/>
            <a:ext cx="1094135" cy="1730029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705945D2-6B70-4075-B493-0A2DD4ADDCE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83779" y="5078089"/>
            <a:ext cx="1162965" cy="1445849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DA497542-2C08-41B5-A065-D5AE89BB35F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60595" y="5023804"/>
            <a:ext cx="1146570" cy="1382275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0E6678A6-C634-4BED-A04D-46DDEC9BAA8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60596" y="3284352"/>
            <a:ext cx="1152012" cy="1421962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2BC4C8D-87F1-4458-A932-2B4AF6CDDA80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77925" y="5083383"/>
            <a:ext cx="1131582" cy="1490851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6A3EDB75-1509-41E9-A4AF-9B7954C24CA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70486" y="5083382"/>
            <a:ext cx="1094135" cy="1361733"/>
          </a:xfrm>
          <a:prstGeom prst="rect">
            <a:avLst/>
          </a:prstGeom>
          <a:effectLst>
            <a:softEdge rad="76200"/>
          </a:effectLst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b="1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b="1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b="1" dirty="0"/>
            </a:p>
          </p:txBody>
        </p:sp>
      </p:grpSp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BDCBB6B1-4642-4560-91D9-CC11C2D26F3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074400" y="249472"/>
            <a:ext cx="523240" cy="494812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4</a:t>
            </a:fld>
            <a:endParaRPr lang="en-US" sz="3200" dirty="0"/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93EFCE76-6D1E-4FBB-A72E-750490ED0D04}"/>
              </a:ext>
            </a:extLst>
          </p:cNvPr>
          <p:cNvSpPr/>
          <p:nvPr/>
        </p:nvSpPr>
        <p:spPr>
          <a:xfrm>
            <a:off x="1662037" y="237011"/>
            <a:ext cx="793121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4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Обмеження та визначення ШІ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0FA5774E-93B9-4D74-AC11-A65537523873}"/>
              </a:ext>
            </a:extLst>
          </p:cNvPr>
          <p:cNvSpPr/>
          <p:nvPr/>
        </p:nvSpPr>
        <p:spPr>
          <a:xfrm>
            <a:off x="3615883" y="1205429"/>
            <a:ext cx="89122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ШІ ≡ 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Глибоке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навчання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 </a:t>
            </a:r>
            <a:endParaRPr lang="en-US" sz="2400" b="1" dirty="0">
              <a:solidFill>
                <a:srgbClr val="1A1C1E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algn="ctr"/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(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архітектури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з 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кількістю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згорткових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шарів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&gt; 2)</a:t>
            </a:r>
            <a:endParaRPr lang="ru-RU" sz="24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27ED7F7-AA96-4ABD-8BAC-0EB24F5AA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16" y="3234042"/>
            <a:ext cx="832852" cy="8328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C688E3-901D-44A4-8832-07BC9C408F40}"/>
              </a:ext>
            </a:extLst>
          </p:cNvPr>
          <p:cNvSpPr txBox="1"/>
          <p:nvPr/>
        </p:nvSpPr>
        <p:spPr>
          <a:xfrm>
            <a:off x="1514426" y="3445461"/>
            <a:ext cx="1547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chemeClr val="bg1"/>
                </a:solidFill>
              </a:rPr>
              <a:t>«Сирі» дані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CA232BE-698A-4E9B-A7E2-A2154AF48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68" y="4801535"/>
            <a:ext cx="870325" cy="7327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021A4EC-A16A-43F8-A378-4F5D7781C48B}"/>
              </a:ext>
            </a:extLst>
          </p:cNvPr>
          <p:cNvSpPr txBox="1"/>
          <p:nvPr/>
        </p:nvSpPr>
        <p:spPr>
          <a:xfrm>
            <a:off x="1441249" y="4764176"/>
            <a:ext cx="21746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«</a:t>
            </a:r>
            <a:r>
              <a:rPr lang="ru-RU" b="1" dirty="0" err="1">
                <a:solidFill>
                  <a:schemeClr val="bg1"/>
                </a:solidFill>
              </a:rPr>
              <a:t>Ручне</a:t>
            </a:r>
            <a:r>
              <a:rPr lang="ru-RU" b="1" dirty="0">
                <a:solidFill>
                  <a:schemeClr val="bg1"/>
                </a:solidFill>
              </a:rPr>
              <a:t>» </a:t>
            </a:r>
            <a:r>
              <a:rPr lang="ru-RU" b="1" dirty="0" err="1">
                <a:solidFill>
                  <a:schemeClr val="bg1"/>
                </a:solidFill>
              </a:rPr>
              <a:t>виділення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ознак</a:t>
            </a:r>
            <a:r>
              <a:rPr lang="ru-RU" b="1" dirty="0">
                <a:solidFill>
                  <a:schemeClr val="bg1"/>
                </a:solidFill>
              </a:rPr>
              <a:t> (</a:t>
            </a:r>
            <a:r>
              <a:rPr lang="en-US" b="1" dirty="0">
                <a:solidFill>
                  <a:schemeClr val="bg1"/>
                </a:solidFill>
              </a:rPr>
              <a:t>Feature Engineering</a:t>
            </a:r>
            <a:r>
              <a:rPr lang="ru-RU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F23578F8-C25C-4598-B9BE-60B6871222CE}"/>
              </a:ext>
            </a:extLst>
          </p:cNvPr>
          <p:cNvSpPr/>
          <p:nvPr/>
        </p:nvSpPr>
        <p:spPr>
          <a:xfrm>
            <a:off x="341152" y="5963364"/>
            <a:ext cx="36523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Класичні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методи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: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залежність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від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експертного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опису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ознак</a:t>
            </a:r>
            <a:endParaRPr lang="ru-RU" b="1" dirty="0"/>
          </a:p>
        </p:txBody>
      </p:sp>
      <p:sp>
        <p:nvSpPr>
          <p:cNvPr id="15" name="Стрілка: униз 14">
            <a:extLst>
              <a:ext uri="{FF2B5EF4-FFF2-40B4-BE49-F238E27FC236}">
                <a16:creationId xmlns:a16="http://schemas.microsoft.com/office/drawing/2014/main" id="{8CD0BAB5-5069-4216-8120-D387B0DF734B}"/>
              </a:ext>
            </a:extLst>
          </p:cNvPr>
          <p:cNvSpPr/>
          <p:nvPr/>
        </p:nvSpPr>
        <p:spPr>
          <a:xfrm>
            <a:off x="1349173" y="4242128"/>
            <a:ext cx="394138" cy="30742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/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17F7EF90-08E1-47B6-8CD9-C63142F2B3FA}"/>
              </a:ext>
            </a:extLst>
          </p:cNvPr>
          <p:cNvSpPr/>
          <p:nvPr/>
        </p:nvSpPr>
        <p:spPr>
          <a:xfrm>
            <a:off x="159678" y="2405682"/>
            <a:ext cx="31672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Поверхневе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навчання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(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Shallow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Learning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)</a:t>
            </a:r>
            <a:endParaRPr lang="ru-RU" b="1" dirty="0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18D54194-9CED-438D-B51D-6ACBAD8C1076}"/>
              </a:ext>
            </a:extLst>
          </p:cNvPr>
          <p:cNvSpPr/>
          <p:nvPr/>
        </p:nvSpPr>
        <p:spPr>
          <a:xfrm>
            <a:off x="5906683" y="2423558"/>
            <a:ext cx="4147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Глибоке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навчання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(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Deep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Learning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) </a:t>
            </a:r>
            <a:endParaRPr lang="ru-RU" b="1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E7AAD61-6193-4843-8748-5645DD2C8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255" y="3110029"/>
            <a:ext cx="1398429" cy="154636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A6C97BA-5FBA-4089-BCEE-EC007D4DB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1648" y="3283076"/>
            <a:ext cx="1006313" cy="1112766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0E48781-9E04-4EBE-864F-2789FC78FB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137" y="3408229"/>
            <a:ext cx="735340" cy="813128"/>
          </a:xfrm>
          <a:prstGeom prst="rect">
            <a:avLst/>
          </a:prstGeom>
        </p:spPr>
      </p:pic>
      <p:sp>
        <p:nvSpPr>
          <p:cNvPr id="26" name="Прямокутник 25">
            <a:extLst>
              <a:ext uri="{FF2B5EF4-FFF2-40B4-BE49-F238E27FC236}">
                <a16:creationId xmlns:a16="http://schemas.microsoft.com/office/drawing/2014/main" id="{3B78EBBC-B475-45CD-B77F-F6721B15E866}"/>
              </a:ext>
            </a:extLst>
          </p:cNvPr>
          <p:cNvSpPr/>
          <p:nvPr/>
        </p:nvSpPr>
        <p:spPr>
          <a:xfrm>
            <a:off x="6055327" y="4819768"/>
            <a:ext cx="39378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Згорткові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шари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(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Conv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Layers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) &gt; 2</a:t>
            </a:r>
            <a:endParaRPr lang="ru-RU" b="1" dirty="0"/>
          </a:p>
        </p:txBody>
      </p:sp>
      <p:sp>
        <p:nvSpPr>
          <p:cNvPr id="27" name="Прямокутник 26">
            <a:extLst>
              <a:ext uri="{FF2B5EF4-FFF2-40B4-BE49-F238E27FC236}">
                <a16:creationId xmlns:a16="http://schemas.microsoft.com/office/drawing/2014/main" id="{D70FC33F-A63B-4375-BFDD-EE40098A9C5C}"/>
              </a:ext>
            </a:extLst>
          </p:cNvPr>
          <p:cNvSpPr/>
          <p:nvPr/>
        </p:nvSpPr>
        <p:spPr>
          <a:xfrm>
            <a:off x="5155937" y="596336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Автоматичне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вилучення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прихованих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залежностей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із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сирих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даних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BDCBB6B1-4642-4560-91D9-CC11C2D26F3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074400" y="249472"/>
            <a:ext cx="523240" cy="494812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5</a:t>
            </a:fld>
            <a:endParaRPr lang="en-US" sz="3200" dirty="0">
              <a:latin typeface="+mn-lt"/>
            </a:endParaRPr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A79540AB-AC98-48AE-B6F9-C9B9B75F143A}"/>
              </a:ext>
            </a:extLst>
          </p:cNvPr>
          <p:cNvSpPr/>
          <p:nvPr/>
        </p:nvSpPr>
        <p:spPr>
          <a:xfrm>
            <a:off x="306203" y="126125"/>
            <a:ext cx="829887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Криза «Чорної скриньки» та потреба в XAI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8B92A1D-0E49-49F7-9391-640DF9BFC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55" y="986708"/>
            <a:ext cx="11149685" cy="574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6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BDCBB6B1-4642-4560-91D9-CC11C2D26F3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074400" y="249472"/>
            <a:ext cx="523240" cy="494812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6</a:t>
            </a:fld>
            <a:endParaRPr lang="en-US" sz="3200" dirty="0">
              <a:latin typeface="+mn-lt"/>
            </a:endParaRPr>
          </a:p>
        </p:txBody>
      </p:sp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6F805111-87AB-49A8-AA2C-262829F750B4}"/>
              </a:ext>
            </a:extLst>
          </p:cNvPr>
          <p:cNvSpPr/>
          <p:nvPr/>
        </p:nvSpPr>
        <p:spPr>
          <a:xfrm>
            <a:off x="3241619" y="128193"/>
            <a:ext cx="75001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Концепція Людино-центрованого ШІ (HCAI)</a:t>
            </a:r>
            <a:endParaRPr lang="ru-RU" sz="2800" dirty="0">
              <a:solidFill>
                <a:schemeClr val="bg1"/>
              </a:solidFill>
            </a:endParaRPr>
          </a:p>
        </p:txBody>
      </p:sp>
      <p:graphicFrame>
        <p:nvGraphicFramePr>
          <p:cNvPr id="16" name="Схема 15">
            <a:extLst>
              <a:ext uri="{FF2B5EF4-FFF2-40B4-BE49-F238E27FC236}">
                <a16:creationId xmlns:a16="http://schemas.microsoft.com/office/drawing/2014/main" id="{043946AC-D599-4747-B75A-E4804C5A56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5448065"/>
              </p:ext>
            </p:extLst>
          </p:nvPr>
        </p:nvGraphicFramePr>
        <p:xfrm>
          <a:off x="2363076" y="119079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CCE33AD-B76C-4440-8478-936FB00F088F}"/>
              </a:ext>
            </a:extLst>
          </p:cNvPr>
          <p:cNvSpPr txBox="1"/>
          <p:nvPr/>
        </p:nvSpPr>
        <p:spPr>
          <a:xfrm>
            <a:off x="5572819" y="3695180"/>
            <a:ext cx="1695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ДОВІРА ТА ПАРТНЕРСТВО (HCAI)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25D85AA-7F61-4BF1-8609-AB92BD4382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4793" y="1553395"/>
            <a:ext cx="805383" cy="805383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1AB16C7-70AD-4084-AD37-57FABE45DC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5367" y="3935830"/>
            <a:ext cx="682680" cy="68268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ED610BB-1F60-4531-A610-829551A183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45423" y="4156845"/>
            <a:ext cx="564733" cy="564733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AE24D51-6082-48B7-9127-043234172F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7903" y="5500211"/>
            <a:ext cx="682680" cy="68268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E1AFAFE-D0AF-4E0D-9A28-443EDE7531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45423" y="5102469"/>
            <a:ext cx="564733" cy="564733"/>
          </a:xfrm>
          <a:prstGeom prst="rect">
            <a:avLst/>
          </a:prstGeom>
        </p:spPr>
      </p:pic>
      <p:sp>
        <p:nvSpPr>
          <p:cNvPr id="30" name="Прямокутник 29">
            <a:extLst>
              <a:ext uri="{FF2B5EF4-FFF2-40B4-BE49-F238E27FC236}">
                <a16:creationId xmlns:a16="http://schemas.microsoft.com/office/drawing/2014/main" id="{443C2238-9AEB-430E-BCED-0D4F0980CA61}"/>
              </a:ext>
            </a:extLst>
          </p:cNvPr>
          <p:cNvSpPr/>
          <p:nvPr/>
        </p:nvSpPr>
        <p:spPr>
          <a:xfrm>
            <a:off x="4225508" y="744284"/>
            <a:ext cx="58122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Тріада: Людина – Технологія – Контекст</a:t>
            </a:r>
            <a:endParaRPr lang="ru-RU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406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72357E1-D5E3-4E24-A004-D21CDBF1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056" y="278129"/>
            <a:ext cx="523240" cy="463993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7</a:t>
            </a:fld>
            <a:endParaRPr lang="en-US" sz="3200" dirty="0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98D3A3-42EA-47D9-99D4-CA3297ABEAD7}"/>
              </a:ext>
            </a:extLst>
          </p:cNvPr>
          <p:cNvSpPr txBox="1"/>
          <p:nvPr/>
        </p:nvSpPr>
        <p:spPr>
          <a:xfrm>
            <a:off x="8004313" y="4194314"/>
            <a:ext cx="2160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Formal Models</a:t>
            </a:r>
            <a:endParaRPr lang="ru-RU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6AAB970-9BF8-44A6-865C-170A4064E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12" y="1797672"/>
            <a:ext cx="2270532" cy="3193715"/>
          </a:xfrm>
          <a:prstGeom prst="rect">
            <a:avLst/>
          </a:prstGeom>
        </p:spPr>
      </p:pic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9AF4B2CB-A3D0-4F1D-9D22-E6A30D677425}"/>
              </a:ext>
            </a:extLst>
          </p:cNvPr>
          <p:cNvSpPr/>
          <p:nvPr/>
        </p:nvSpPr>
        <p:spPr>
          <a:xfrm>
            <a:off x="998654" y="0"/>
            <a:ext cx="71643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Довіра та етика: Онтологічний підхід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4CA330-3D1D-4530-8C6A-8160677D3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576" y="1117876"/>
            <a:ext cx="6069042" cy="3445770"/>
          </a:xfrm>
          <a:prstGeom prst="rect">
            <a:avLst/>
          </a:prstGeom>
        </p:spPr>
      </p:pic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EF860038-F53F-46E4-AFEC-3A07A3278412}"/>
              </a:ext>
            </a:extLst>
          </p:cNvPr>
          <p:cNvSpPr/>
          <p:nvPr/>
        </p:nvSpPr>
        <p:spPr>
          <a:xfrm>
            <a:off x="94296" y="5933540"/>
            <a:ext cx="119347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72626"/>
                </a:solidFill>
                <a:latin typeface="Arial" panose="020B0604020202020204" pitchFamily="34" charset="0"/>
              </a:rPr>
              <a:t>Сергієнко І.В., Крак Ю.В., Бармак О.В, Манзюк Е.А., Куляс А.І. </a:t>
            </a:r>
            <a:r>
              <a:rPr lang="ru-RU" b="1" dirty="0">
                <a:solidFill>
                  <a:srgbClr val="272626"/>
                </a:solidFill>
                <a:latin typeface="Arial" panose="020B0604020202020204" pitchFamily="34" charset="0"/>
              </a:rPr>
              <a:t>Інтелектуальні інформаційні технології: людиноцентрований підхід, принципи етики та довіри.</a:t>
            </a:r>
            <a:r>
              <a:rPr lang="ru-RU" dirty="0">
                <a:solidFill>
                  <a:srgbClr val="272626"/>
                </a:solidFill>
                <a:latin typeface="Arial" panose="020B0604020202020204" pitchFamily="34" charset="0"/>
              </a:rPr>
              <a:t> Монографія. – К: Наукова думка, 2023. – 310 с.</a:t>
            </a:r>
            <a:endParaRPr lang="ru-RU" dirty="0"/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3C44593D-590F-4865-B066-883A80F35CEC}"/>
              </a:ext>
            </a:extLst>
          </p:cNvPr>
          <p:cNvSpPr/>
          <p:nvPr/>
        </p:nvSpPr>
        <p:spPr>
          <a:xfrm>
            <a:off x="2723618" y="456364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uk-UA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Онтологія довіри до інтелектуальних інформаційних технологій за стандартом ISO/IEC TR 24028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Прямокутник 15">
            <a:extLst>
              <a:ext uri="{FF2B5EF4-FFF2-40B4-BE49-F238E27FC236}">
                <a16:creationId xmlns:a16="http://schemas.microsoft.com/office/drawing/2014/main" id="{D91893C1-EBBC-4A4D-94DA-2E44DAEF6374}"/>
              </a:ext>
            </a:extLst>
          </p:cNvPr>
          <p:cNvSpPr/>
          <p:nvPr/>
        </p:nvSpPr>
        <p:spPr>
          <a:xfrm>
            <a:off x="8908579" y="711734"/>
            <a:ext cx="3120511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Прозорість</a:t>
            </a: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Пояснюваність</a:t>
            </a: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Керованість,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Стратегії зменшення упередженості,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Конфіденційність,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Надійність,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Стійкість,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Робастність,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Зменшення збоїв апаратного забезпечення системи,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Функціональна безпека,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Тестування,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Оцінка,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Використання,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Застосовність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BE8BCDCA-D664-4BEC-84A2-03383DFB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994" y="85408"/>
            <a:ext cx="523240" cy="581025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8</a:t>
            </a:fld>
            <a:endParaRPr lang="en-US" sz="3200" dirty="0">
              <a:latin typeface="+mn-lt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C207D41-5474-40A1-AA5E-B07A7A57A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18" y="2877210"/>
            <a:ext cx="2665038" cy="140435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DC4E13C-71FB-41E6-AA78-78AB6DB0A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18" y="526893"/>
            <a:ext cx="2475852" cy="1487513"/>
          </a:xfrm>
          <a:prstGeom prst="rect">
            <a:avLst/>
          </a:prstGeom>
        </p:spPr>
      </p:pic>
      <p:sp>
        <p:nvSpPr>
          <p:cNvPr id="25" name="Прямокутник 24">
            <a:extLst>
              <a:ext uri="{FF2B5EF4-FFF2-40B4-BE49-F238E27FC236}">
                <a16:creationId xmlns:a16="http://schemas.microsoft.com/office/drawing/2014/main" id="{CE68BA19-76DE-4A7C-9936-11DF562CBA9C}"/>
              </a:ext>
            </a:extLst>
          </p:cNvPr>
          <p:cNvSpPr/>
          <p:nvPr/>
        </p:nvSpPr>
        <p:spPr>
          <a:xfrm>
            <a:off x="449992" y="24021"/>
            <a:ext cx="22320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Нейронна мережа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 глибокого навчання</a:t>
            </a:r>
          </a:p>
        </p:txBody>
      </p:sp>
      <p:sp>
        <p:nvSpPr>
          <p:cNvPr id="26" name="Прямокутник 25">
            <a:extLst>
              <a:ext uri="{FF2B5EF4-FFF2-40B4-BE49-F238E27FC236}">
                <a16:creationId xmlns:a16="http://schemas.microsoft.com/office/drawing/2014/main" id="{BCF07DA4-E0F1-49F7-9808-7B34C9B9A8B8}"/>
              </a:ext>
            </a:extLst>
          </p:cNvPr>
          <p:cNvSpPr/>
          <p:nvPr/>
        </p:nvSpPr>
        <p:spPr>
          <a:xfrm>
            <a:off x="0" y="2261142"/>
            <a:ext cx="15660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Вибір вбудовування</a:t>
            </a:r>
          </a:p>
        </p:txBody>
      </p:sp>
      <p:sp>
        <p:nvSpPr>
          <p:cNvPr id="27" name="Прямокутник 26">
            <a:extLst>
              <a:ext uri="{FF2B5EF4-FFF2-40B4-BE49-F238E27FC236}">
                <a16:creationId xmlns:a16="http://schemas.microsoft.com/office/drawing/2014/main" id="{73FCA8A6-4791-4DB7-ACEC-D5CEB5795FCA}"/>
              </a:ext>
            </a:extLst>
          </p:cNvPr>
          <p:cNvSpPr/>
          <p:nvPr/>
        </p:nvSpPr>
        <p:spPr>
          <a:xfrm>
            <a:off x="1760372" y="2220520"/>
            <a:ext cx="11675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chemeClr val="bg1"/>
                </a:solidFill>
              </a:rPr>
              <a:t>Візуальна аналітика</a:t>
            </a:r>
          </a:p>
        </p:txBody>
      </p:sp>
      <p:sp>
        <p:nvSpPr>
          <p:cNvPr id="28" name="Стрілка: вправо 27">
            <a:extLst>
              <a:ext uri="{FF2B5EF4-FFF2-40B4-BE49-F238E27FC236}">
                <a16:creationId xmlns:a16="http://schemas.microsoft.com/office/drawing/2014/main" id="{8F0137C8-A50C-42E2-BD88-79AE0697587D}"/>
              </a:ext>
            </a:extLst>
          </p:cNvPr>
          <p:cNvSpPr/>
          <p:nvPr/>
        </p:nvSpPr>
        <p:spPr>
          <a:xfrm>
            <a:off x="1577398" y="2447024"/>
            <a:ext cx="236482" cy="244305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Стрілка: униз 28">
            <a:extLst>
              <a:ext uri="{FF2B5EF4-FFF2-40B4-BE49-F238E27FC236}">
                <a16:creationId xmlns:a16="http://schemas.microsoft.com/office/drawing/2014/main" id="{76EC22A7-DECA-4DE9-ACA0-43AD81234548}"/>
              </a:ext>
            </a:extLst>
          </p:cNvPr>
          <p:cNvSpPr/>
          <p:nvPr/>
        </p:nvSpPr>
        <p:spPr>
          <a:xfrm>
            <a:off x="724878" y="1971635"/>
            <a:ext cx="204952" cy="291657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7F9D59B7-EDEB-4185-B330-E4C4F136A7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6664" y="1962520"/>
            <a:ext cx="2974353" cy="2225968"/>
          </a:xfrm>
          <a:prstGeom prst="rect">
            <a:avLst/>
          </a:prstGeom>
        </p:spPr>
      </p:pic>
      <p:sp>
        <p:nvSpPr>
          <p:cNvPr id="32" name="Прямокутник 31">
            <a:extLst>
              <a:ext uri="{FF2B5EF4-FFF2-40B4-BE49-F238E27FC236}">
                <a16:creationId xmlns:a16="http://schemas.microsoft.com/office/drawing/2014/main" id="{9CD009D0-AA3B-45A1-AE3C-BEFBBF7E2310}"/>
              </a:ext>
            </a:extLst>
          </p:cNvPr>
          <p:cNvSpPr/>
          <p:nvPr/>
        </p:nvSpPr>
        <p:spPr>
          <a:xfrm>
            <a:off x="3473462" y="1381653"/>
            <a:ext cx="18512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Формальна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 модель</a:t>
            </a: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37F42B9D-5DC4-4A0D-BD82-BF29A3167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0240" y="1344067"/>
            <a:ext cx="631811" cy="631811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C767857A-261D-48E9-A90B-01DF603F2B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8806" y="4826336"/>
            <a:ext cx="1831637" cy="1835508"/>
          </a:xfrm>
          <a:prstGeom prst="rect">
            <a:avLst/>
          </a:prstGeom>
        </p:spPr>
      </p:pic>
      <p:sp>
        <p:nvSpPr>
          <p:cNvPr id="37" name="Прямокутник 36">
            <a:extLst>
              <a:ext uri="{FF2B5EF4-FFF2-40B4-BE49-F238E27FC236}">
                <a16:creationId xmlns:a16="http://schemas.microsoft.com/office/drawing/2014/main" id="{2B364546-6EF8-42AC-928A-5D06AF41550E}"/>
              </a:ext>
            </a:extLst>
          </p:cNvPr>
          <p:cNvSpPr/>
          <p:nvPr/>
        </p:nvSpPr>
        <p:spPr>
          <a:xfrm>
            <a:off x="324301" y="4670297"/>
            <a:ext cx="15792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b="1" noProof="0" dirty="0">
                <a:solidFill>
                  <a:schemeClr val="bg1"/>
                </a:solidFill>
              </a:rPr>
              <a:t>Набори даних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DE0D5854-C55E-48B7-9A6D-E06ADEEDE7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6854" y="2419701"/>
            <a:ext cx="2143125" cy="2143125"/>
          </a:xfrm>
          <a:prstGeom prst="rect">
            <a:avLst/>
          </a:prstGeom>
        </p:spPr>
      </p:pic>
      <p:sp>
        <p:nvSpPr>
          <p:cNvPr id="40" name="Прямокутник 39">
            <a:extLst>
              <a:ext uri="{FF2B5EF4-FFF2-40B4-BE49-F238E27FC236}">
                <a16:creationId xmlns:a16="http://schemas.microsoft.com/office/drawing/2014/main" id="{D155B9BA-6D2C-44F8-B94A-D3D449B4C56A}"/>
              </a:ext>
            </a:extLst>
          </p:cNvPr>
          <p:cNvSpPr/>
          <p:nvPr/>
        </p:nvSpPr>
        <p:spPr>
          <a:xfrm>
            <a:off x="6332731" y="1168703"/>
            <a:ext cx="21431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Інтерфейс наближення 
(Ядро </a:t>
            </a:r>
            <a:r>
              <a:rPr lang="en-US" sz="2400" b="1" dirty="0">
                <a:solidFill>
                  <a:schemeClr val="bg1"/>
                </a:solidFill>
              </a:rPr>
              <a:t>XAI</a:t>
            </a:r>
            <a:r>
              <a:rPr lang="ru-RU" sz="24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41" name="Прямокутник 40">
            <a:extLst>
              <a:ext uri="{FF2B5EF4-FFF2-40B4-BE49-F238E27FC236}">
                <a16:creationId xmlns:a16="http://schemas.microsoft.com/office/drawing/2014/main" id="{221AFBC5-F4ED-4726-9BFC-327E19903A71}"/>
              </a:ext>
            </a:extLst>
          </p:cNvPr>
          <p:cNvSpPr/>
          <p:nvPr/>
        </p:nvSpPr>
        <p:spPr>
          <a:xfrm>
            <a:off x="3135654" y="9568"/>
            <a:ext cx="774180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bg1"/>
                </a:solidFill>
              </a:rPr>
              <a:t>Схема синхронізації формальних і ментальних моделей</a:t>
            </a:r>
          </a:p>
        </p:txBody>
      </p:sp>
      <p:sp>
        <p:nvSpPr>
          <p:cNvPr id="42" name="Прямокутник 41">
            <a:extLst>
              <a:ext uri="{FF2B5EF4-FFF2-40B4-BE49-F238E27FC236}">
                <a16:creationId xmlns:a16="http://schemas.microsoft.com/office/drawing/2014/main" id="{E64C0B90-9A03-4439-AF78-FFD7295867CD}"/>
              </a:ext>
            </a:extLst>
          </p:cNvPr>
          <p:cNvSpPr/>
          <p:nvPr/>
        </p:nvSpPr>
        <p:spPr>
          <a:xfrm>
            <a:off x="8878836" y="1353368"/>
            <a:ext cx="164019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Ментальна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 модель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B54A3564-4658-4998-AC0C-35C5E06361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1757" y="1338894"/>
            <a:ext cx="834832" cy="834832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365A77A5-2BCD-4C0F-A247-EE66438854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4316" y="2000216"/>
            <a:ext cx="2163144" cy="1684058"/>
          </a:xfrm>
          <a:prstGeom prst="rect">
            <a:avLst/>
          </a:prstGeom>
        </p:spPr>
      </p:pic>
      <p:sp>
        <p:nvSpPr>
          <p:cNvPr id="45" name="Прямокутник 44">
            <a:extLst>
              <a:ext uri="{FF2B5EF4-FFF2-40B4-BE49-F238E27FC236}">
                <a16:creationId xmlns:a16="http://schemas.microsoft.com/office/drawing/2014/main" id="{5C2B24C4-E21F-465E-8232-C5AE06E42635}"/>
              </a:ext>
            </a:extLst>
          </p:cNvPr>
          <p:cNvSpPr/>
          <p:nvPr/>
        </p:nvSpPr>
        <p:spPr>
          <a:xfrm>
            <a:off x="2753022" y="4177477"/>
            <a:ext cx="42006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 </a:t>
            </a:r>
            <a:r>
              <a:rPr lang="ru-RU" b="1" dirty="0">
                <a:solidFill>
                  <a:schemeClr val="bg1"/>
                </a:solidFill>
              </a:rPr>
              <a:t>Тензорний простір і ваги.
</a:t>
            </a:r>
            <a:r>
              <a:rPr lang="en-US" b="1" dirty="0">
                <a:solidFill>
                  <a:schemeClr val="bg1"/>
                </a:solidFill>
              </a:rPr>
              <a:t>o </a:t>
            </a:r>
            <a:r>
              <a:rPr lang="ru-RU" b="1" dirty="0">
                <a:solidFill>
                  <a:schemeClr val="bg1"/>
                </a:solidFill>
              </a:rPr>
              <a:t>Приховані нелінійні залежності.
</a:t>
            </a:r>
            <a:r>
              <a:rPr lang="en-US" b="1" dirty="0">
                <a:solidFill>
                  <a:schemeClr val="bg1"/>
                </a:solidFill>
              </a:rPr>
              <a:t>o </a:t>
            </a:r>
            <a:r>
              <a:rPr lang="uk-UA" b="1" noProof="0" dirty="0">
                <a:solidFill>
                  <a:schemeClr val="bg1"/>
                </a:solidFill>
              </a:rPr>
              <a:t>Обчислювальна складність («Чорна скринька»).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6" name="Прямокутник 45">
            <a:extLst>
              <a:ext uri="{FF2B5EF4-FFF2-40B4-BE49-F238E27FC236}">
                <a16:creationId xmlns:a16="http://schemas.microsoft.com/office/drawing/2014/main" id="{A42B14A3-EB14-4295-886C-2E4212A7F722}"/>
              </a:ext>
            </a:extLst>
          </p:cNvPr>
          <p:cNvSpPr/>
          <p:nvPr/>
        </p:nvSpPr>
        <p:spPr>
          <a:xfrm>
            <a:off x="8562502" y="4169447"/>
            <a:ext cx="34984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 </a:t>
            </a:r>
            <a:r>
              <a:rPr lang="ru-RU" b="1" dirty="0">
                <a:solidFill>
                  <a:schemeClr val="bg1"/>
                </a:solidFill>
              </a:rPr>
              <a:t>Семантичні значущі </a:t>
            </a:r>
            <a:r>
              <a:rPr lang="ru-RU" b="1" dirty="0" err="1">
                <a:solidFill>
                  <a:schemeClr val="bg1"/>
                </a:solidFill>
              </a:rPr>
              <a:t>образи</a:t>
            </a:r>
            <a:r>
              <a:rPr lang="ru-RU" b="1" dirty="0">
                <a:solidFill>
                  <a:schemeClr val="bg1"/>
                </a:solidFill>
              </a:rPr>
              <a:t>.
</a:t>
            </a:r>
            <a:r>
              <a:rPr lang="en-US" b="1" dirty="0">
                <a:solidFill>
                  <a:schemeClr val="bg1"/>
                </a:solidFill>
              </a:rPr>
              <a:t>o </a:t>
            </a:r>
            <a:r>
              <a:rPr lang="ru-RU" b="1" dirty="0" err="1">
                <a:solidFill>
                  <a:schemeClr val="bg1"/>
                </a:solidFill>
              </a:rPr>
              <a:t>Логічні</a:t>
            </a:r>
            <a:r>
              <a:rPr lang="ru-RU" b="1" dirty="0">
                <a:solidFill>
                  <a:schemeClr val="bg1"/>
                </a:solidFill>
              </a:rPr>
              <a:t> правила (</a:t>
            </a:r>
            <a:r>
              <a:rPr lang="ru-RU" b="1" dirty="0" err="1">
                <a:solidFill>
                  <a:schemeClr val="bg1"/>
                </a:solidFill>
              </a:rPr>
              <a:t>якщо-тоді</a:t>
            </a:r>
            <a:r>
              <a:rPr lang="ru-RU" b="1" dirty="0">
                <a:solidFill>
                  <a:schemeClr val="bg1"/>
                </a:solidFill>
              </a:rPr>
              <a:t>).
</a:t>
            </a:r>
            <a:r>
              <a:rPr lang="en-US" b="1" dirty="0">
                <a:solidFill>
                  <a:schemeClr val="bg1"/>
                </a:solidFill>
              </a:rPr>
              <a:t>o </a:t>
            </a:r>
            <a:r>
              <a:rPr lang="ru-RU" b="1" dirty="0" err="1">
                <a:solidFill>
                  <a:schemeClr val="bg1"/>
                </a:solidFill>
              </a:rPr>
              <a:t>Експертне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судження</a:t>
            </a:r>
            <a:r>
              <a:rPr lang="ru-RU" b="1" dirty="0">
                <a:solidFill>
                  <a:schemeClr val="bg1"/>
                </a:solidFill>
              </a:rPr>
              <a:t> та </a:t>
            </a:r>
            <a:r>
              <a:rPr lang="ru-RU" b="1" dirty="0" err="1">
                <a:solidFill>
                  <a:schemeClr val="bg1"/>
                </a:solidFill>
              </a:rPr>
              <a:t>довіра</a:t>
            </a:r>
            <a:r>
              <a:rPr lang="ru-RU" b="1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9" name="Прямокутник 48">
            <a:extLst>
              <a:ext uri="{FF2B5EF4-FFF2-40B4-BE49-F238E27FC236}">
                <a16:creationId xmlns:a16="http://schemas.microsoft.com/office/drawing/2014/main" id="{A85CAB02-144E-4742-BE41-F7C7EC96AF3C}"/>
              </a:ext>
            </a:extLst>
          </p:cNvPr>
          <p:cNvSpPr/>
          <p:nvPr/>
        </p:nvSpPr>
        <p:spPr>
          <a:xfrm>
            <a:off x="1888545" y="5577950"/>
            <a:ext cx="101986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Radiuk P, Barmak O, Manziuk E, Krak I. </a:t>
            </a:r>
            <a:r>
              <a:rPr lang="ru-RU" b="1" dirty="0" err="1">
                <a:solidFill>
                  <a:schemeClr val="bg1"/>
                </a:solidFill>
              </a:rPr>
              <a:t>Пояснюване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глибоке</a:t>
            </a:r>
            <a:r>
              <a:rPr lang="ru-RU" b="1" dirty="0">
                <a:solidFill>
                  <a:schemeClr val="bg1"/>
                </a:solidFill>
              </a:rPr>
              <a:t> навчання: підхід </a:t>
            </a:r>
            <a:r>
              <a:rPr lang="ru-RU" b="1" dirty="0" err="1">
                <a:solidFill>
                  <a:schemeClr val="bg1"/>
                </a:solidFill>
              </a:rPr>
              <a:t>візуальної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аналітики</a:t>
            </a:r>
            <a:r>
              <a:rPr lang="ru-RU" b="1" dirty="0">
                <a:solidFill>
                  <a:schemeClr val="bg1"/>
                </a:solidFill>
              </a:rPr>
              <a:t> з </a:t>
            </a:r>
            <a:r>
              <a:rPr lang="ru-RU" b="1" dirty="0" err="1">
                <a:solidFill>
                  <a:schemeClr val="bg1"/>
                </a:solidFill>
              </a:rPr>
              <a:t>матрицями</a:t>
            </a:r>
            <a:r>
              <a:rPr lang="ru-RU" b="1" dirty="0">
                <a:solidFill>
                  <a:schemeClr val="bg1"/>
                </a:solidFill>
              </a:rPr>
              <a:t> переходу. Математика. 2024; 12(7):1024. </a:t>
            </a:r>
            <a:r>
              <a:rPr lang="en-US" b="1" dirty="0">
                <a:solidFill>
                  <a:schemeClr val="bg1"/>
                </a:solidFill>
              </a:rPr>
              <a:t>https://doi.org/10.3390/math12071024, (Q1)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67B67EC0-5941-46C7-B0CD-439120D3AC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5420" y="2935326"/>
            <a:ext cx="1059715" cy="399892"/>
          </a:xfrm>
          <a:prstGeom prst="rect">
            <a:avLst/>
          </a:prstGeom>
        </p:spPr>
      </p:pic>
      <p:sp>
        <p:nvSpPr>
          <p:cNvPr id="52" name="Стрілка: вліво-вправо 51">
            <a:extLst>
              <a:ext uri="{FF2B5EF4-FFF2-40B4-BE49-F238E27FC236}">
                <a16:creationId xmlns:a16="http://schemas.microsoft.com/office/drawing/2014/main" id="{35975C87-95CC-4A09-8585-254DC310E555}"/>
              </a:ext>
            </a:extLst>
          </p:cNvPr>
          <p:cNvSpPr/>
          <p:nvPr/>
        </p:nvSpPr>
        <p:spPr>
          <a:xfrm>
            <a:off x="2955715" y="3092295"/>
            <a:ext cx="449868" cy="191235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19ECA9A0-DAC7-414D-8BC6-295EB2B19F1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9320" y="2949945"/>
            <a:ext cx="475529" cy="231668"/>
          </a:xfrm>
          <a:prstGeom prst="rect">
            <a:avLst/>
          </a:prstGeom>
        </p:spPr>
      </p:pic>
      <p:sp>
        <p:nvSpPr>
          <p:cNvPr id="54" name="Стрілка: угору 53">
            <a:extLst>
              <a:ext uri="{FF2B5EF4-FFF2-40B4-BE49-F238E27FC236}">
                <a16:creationId xmlns:a16="http://schemas.microsoft.com/office/drawing/2014/main" id="{FD11D286-5BE0-40CF-8794-0EE717419FF0}"/>
              </a:ext>
            </a:extLst>
          </p:cNvPr>
          <p:cNvSpPr/>
          <p:nvPr/>
        </p:nvSpPr>
        <p:spPr>
          <a:xfrm>
            <a:off x="708580" y="4413240"/>
            <a:ext cx="234252" cy="257057"/>
          </a:xfrm>
          <a:prstGeom prst="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5431DD7-1BBB-4C05-858E-783A6B45B3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12365" y="2278628"/>
            <a:ext cx="1123950" cy="70485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6E5ADE-0184-47EE-8F82-8CAF79804D7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77460" y="2941944"/>
            <a:ext cx="923330" cy="92333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09ED9F-211E-41D6-A2BA-8DA7476ABFF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43619" y="3132283"/>
            <a:ext cx="1358105" cy="96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5B9D7086-730E-4608-8791-FE828428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2156" y="4698"/>
            <a:ext cx="357819" cy="621639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9</a:t>
            </a:fld>
            <a:endParaRPr lang="en-US" sz="3200" dirty="0">
              <a:latin typeface="+mn-lt"/>
            </a:endParaRPr>
          </a:p>
        </p:txBody>
      </p:sp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EE0DC443-E8B5-407E-9C98-BEA0EB839467}"/>
              </a:ext>
            </a:extLst>
          </p:cNvPr>
          <p:cNvSpPr/>
          <p:nvPr/>
        </p:nvSpPr>
        <p:spPr>
          <a:xfrm>
            <a:off x="1776732" y="165913"/>
            <a:ext cx="92604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err="1">
                <a:solidFill>
                  <a:schemeClr val="bg1"/>
                </a:solidFill>
              </a:rPr>
              <a:t>Сучасний</a:t>
            </a:r>
            <a:r>
              <a:rPr lang="ru-RU" sz="4000" b="1" dirty="0">
                <a:solidFill>
                  <a:schemeClr val="bg1"/>
                </a:solidFill>
              </a:rPr>
              <a:t> стан </a:t>
            </a:r>
            <a:r>
              <a:rPr lang="ru-RU" sz="4000" b="1" dirty="0" err="1">
                <a:solidFill>
                  <a:schemeClr val="bg1"/>
                </a:solidFill>
              </a:rPr>
              <a:t>глобальних</a:t>
            </a:r>
            <a:r>
              <a:rPr lang="ru-RU" sz="4000" b="1" dirty="0">
                <a:solidFill>
                  <a:schemeClr val="bg1"/>
                </a:solidFill>
              </a:rPr>
              <a:t> </a:t>
            </a:r>
            <a:r>
              <a:rPr lang="ru-RU" sz="4000" b="1" dirty="0" err="1">
                <a:solidFill>
                  <a:schemeClr val="bg1"/>
                </a:solidFill>
              </a:rPr>
              <a:t>підходів</a:t>
            </a:r>
            <a:r>
              <a:rPr lang="ru-RU" sz="4000" b="1" dirty="0">
                <a:solidFill>
                  <a:schemeClr val="bg1"/>
                </a:solidFill>
              </a:rPr>
              <a:t> до XAI</a:t>
            </a:r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789CA46F-EFF5-42DC-B6FB-81086ECF2BC1}"/>
              </a:ext>
            </a:extLst>
          </p:cNvPr>
          <p:cNvSpPr/>
          <p:nvPr/>
        </p:nvSpPr>
        <p:spPr>
          <a:xfrm>
            <a:off x="965606" y="3964178"/>
            <a:ext cx="43329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>
                <a:solidFill>
                  <a:schemeClr val="bg1"/>
                </a:solidFill>
              </a:rPr>
              <a:t>Аналіз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вхідно-вихідних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даних</a:t>
            </a:r>
            <a:r>
              <a:rPr lang="ru-RU" sz="2400" b="1" dirty="0">
                <a:solidFill>
                  <a:schemeClr val="bg1"/>
                </a:solidFill>
              </a:rPr>
              <a:t> без </a:t>
            </a:r>
            <a:r>
              <a:rPr lang="ru-RU" sz="2400" b="1" dirty="0" err="1">
                <a:solidFill>
                  <a:schemeClr val="bg1"/>
                </a:solidFill>
              </a:rPr>
              <a:t>зміни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архітектури</a:t>
            </a:r>
            <a:endParaRPr lang="ru-RU" sz="2400" b="1" dirty="0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44051F0-E25E-4855-BF89-E84D51738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599" y="2151313"/>
            <a:ext cx="475959" cy="4659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87FDC5-421D-4B82-A9B4-E7F8332F5BFB}"/>
              </a:ext>
            </a:extLst>
          </p:cNvPr>
          <p:cNvSpPr txBox="1"/>
          <p:nvPr/>
        </p:nvSpPr>
        <p:spPr>
          <a:xfrm>
            <a:off x="3874558" y="2174961"/>
            <a:ext cx="788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LIME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A2D232B-841C-4461-A014-E68B42DCD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838" y="2020997"/>
            <a:ext cx="1758782" cy="185460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B90EDA4-FF3D-4B81-BC67-3A41418A56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9496" y="2640875"/>
            <a:ext cx="385012" cy="46591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2DF0385-93AF-4897-93C7-B4D0804361BE}"/>
              </a:ext>
            </a:extLst>
          </p:cNvPr>
          <p:cNvSpPr txBox="1"/>
          <p:nvPr/>
        </p:nvSpPr>
        <p:spPr>
          <a:xfrm>
            <a:off x="3874558" y="2659892"/>
            <a:ext cx="91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SHAPE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DC191A0A-4B23-4BFC-B320-582BCFDFB5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8599" y="3128961"/>
            <a:ext cx="475959" cy="48915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02CCBF5-36FE-4A0A-A21A-CD6D608D8A97}"/>
              </a:ext>
            </a:extLst>
          </p:cNvPr>
          <p:cNvSpPr txBox="1"/>
          <p:nvPr/>
        </p:nvSpPr>
        <p:spPr>
          <a:xfrm>
            <a:off x="3874558" y="3176259"/>
            <a:ext cx="1201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Grad-CAM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8" name="Прямокутник 27">
            <a:extLst>
              <a:ext uri="{FF2B5EF4-FFF2-40B4-BE49-F238E27FC236}">
                <a16:creationId xmlns:a16="http://schemas.microsoft.com/office/drawing/2014/main" id="{2BFCE201-6248-421B-B2A7-CF930004BF80}"/>
              </a:ext>
            </a:extLst>
          </p:cNvPr>
          <p:cNvSpPr/>
          <p:nvPr/>
        </p:nvSpPr>
        <p:spPr>
          <a:xfrm>
            <a:off x="1331802" y="906433"/>
            <a:ext cx="353770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Постфактативні</a:t>
            </a:r>
            <a:r>
              <a:rPr lang="ru-RU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en-US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 err="1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пояснення</a:t>
            </a:r>
            <a:r>
              <a:rPr lang="en-US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(Post-hoc)</a:t>
            </a:r>
            <a:endParaRPr lang="ru-RU" sz="2800" dirty="0"/>
          </a:p>
        </p:txBody>
      </p:sp>
      <p:sp>
        <p:nvSpPr>
          <p:cNvPr id="29" name="Прямокутник 28">
            <a:extLst>
              <a:ext uri="{FF2B5EF4-FFF2-40B4-BE49-F238E27FC236}">
                <a16:creationId xmlns:a16="http://schemas.microsoft.com/office/drawing/2014/main" id="{227AC8A6-2C4D-492C-AC64-D82E147EF38D}"/>
              </a:ext>
            </a:extLst>
          </p:cNvPr>
          <p:cNvSpPr/>
          <p:nvPr/>
        </p:nvSpPr>
        <p:spPr>
          <a:xfrm>
            <a:off x="5855501" y="887718"/>
            <a:ext cx="6478761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800" b="1" dirty="0" err="1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Післяфактативні</a:t>
            </a:r>
            <a:r>
              <a:rPr lang="uk-UA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пояснення</a:t>
            </a:r>
            <a:br>
              <a:rPr lang="uk-UA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/ </a:t>
            </a:r>
            <a:r>
              <a:rPr lang="ru-RU" sz="2800" b="1" dirty="0" err="1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Внутрішня</a:t>
            </a:r>
            <a:r>
              <a:rPr lang="ru-RU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інтерпретація</a:t>
            </a:r>
            <a:r>
              <a:rPr lang="ru-RU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Ante-hoc</a:t>
            </a:r>
            <a:r>
              <a:rPr lang="ru-RU" sz="28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ru-RU" sz="280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2FCDB591-9DB0-4E25-B7D3-C92911FFF3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2551" y="1723781"/>
            <a:ext cx="2003217" cy="200321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3FD89C0-0E32-4565-AAA5-71C1E19805BA}"/>
              </a:ext>
            </a:extLst>
          </p:cNvPr>
          <p:cNvSpPr txBox="1"/>
          <p:nvPr/>
        </p:nvSpPr>
        <p:spPr>
          <a:xfrm>
            <a:off x="9071787" y="2151313"/>
            <a:ext cx="1795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chemeClr val="bg1"/>
                </a:solidFill>
              </a:rPr>
              <a:t>Decision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Trees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A9149CC9-7B80-40C6-B6BE-67E8468CB6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1561" y="2093872"/>
            <a:ext cx="450421" cy="45042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E2AE84A-6D90-4B57-A2F0-3B1A8B65B4AC}"/>
              </a:ext>
            </a:extLst>
          </p:cNvPr>
          <p:cNvSpPr txBox="1"/>
          <p:nvPr/>
        </p:nvSpPr>
        <p:spPr>
          <a:xfrm>
            <a:off x="9125020" y="2659892"/>
            <a:ext cx="1795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chemeClr val="bg1"/>
                </a:solidFill>
              </a:rPr>
              <a:t>Linear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b="1" dirty="0" err="1">
                <a:solidFill>
                  <a:schemeClr val="bg1"/>
                </a:solidFill>
              </a:rPr>
              <a:t>Models</a:t>
            </a:r>
            <a:endParaRPr lang="ru-RU" b="1" dirty="0">
              <a:solidFill>
                <a:schemeClr val="bg1"/>
              </a:solidFill>
            </a:endParaRP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568A6F59-E2A1-4B1C-A1D2-0F68A464FB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1561" y="2619347"/>
            <a:ext cx="553896" cy="450421"/>
          </a:xfrm>
          <a:prstGeom prst="rect">
            <a:avLst/>
          </a:prstGeom>
        </p:spPr>
      </p:pic>
      <p:sp>
        <p:nvSpPr>
          <p:cNvPr id="36" name="Прямокутник 35">
            <a:extLst>
              <a:ext uri="{FF2B5EF4-FFF2-40B4-BE49-F238E27FC236}">
                <a16:creationId xmlns:a16="http://schemas.microsoft.com/office/drawing/2014/main" id="{C4751269-3919-467C-AEF3-4AA4B21DBE86}"/>
              </a:ext>
            </a:extLst>
          </p:cNvPr>
          <p:cNvSpPr/>
          <p:nvPr/>
        </p:nvSpPr>
        <p:spPr>
          <a:xfrm>
            <a:off x="6096000" y="3997250"/>
            <a:ext cx="45410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>
                <a:solidFill>
                  <a:schemeClr val="bg1"/>
                </a:solidFill>
              </a:rPr>
              <a:t>Прозорість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ціною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низької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точності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сирих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b="1" dirty="0" err="1">
                <a:solidFill>
                  <a:schemeClr val="bg1"/>
                </a:solidFill>
              </a:rPr>
              <a:t>даних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7" name="Прямокутник 36">
            <a:extLst>
              <a:ext uri="{FF2B5EF4-FFF2-40B4-BE49-F238E27FC236}">
                <a16:creationId xmlns:a16="http://schemas.microsoft.com/office/drawing/2014/main" id="{D7708CED-488A-48FC-B0D5-A9CB85044EDB}"/>
              </a:ext>
            </a:extLst>
          </p:cNvPr>
          <p:cNvSpPr/>
          <p:nvPr/>
        </p:nvSpPr>
        <p:spPr>
          <a:xfrm>
            <a:off x="2395560" y="5045248"/>
            <a:ext cx="932659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2800" b="1" dirty="0" err="1">
                <a:solidFill>
                  <a:srgbClr val="FF0000"/>
                </a:solidFill>
              </a:rPr>
              <a:t>Існує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err="1">
                <a:solidFill>
                  <a:srgbClr val="FF0000"/>
                </a:solidFill>
              </a:rPr>
              <a:t>глобальний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err="1">
                <a:solidFill>
                  <a:srgbClr val="FF0000"/>
                </a:solidFill>
              </a:rPr>
              <a:t>дефіцит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err="1">
                <a:solidFill>
                  <a:srgbClr val="FF0000"/>
                </a:solidFill>
              </a:rPr>
              <a:t>методів</a:t>
            </a:r>
            <a:r>
              <a:rPr lang="ru-RU" sz="2800" b="1" dirty="0">
                <a:solidFill>
                  <a:srgbClr val="FF0000"/>
                </a:solidFill>
              </a:rPr>
              <a:t>, </a:t>
            </a:r>
            <a:r>
              <a:rPr lang="ru-RU" sz="2800" b="1" dirty="0" err="1">
                <a:solidFill>
                  <a:srgbClr val="FF0000"/>
                </a:solidFill>
              </a:rPr>
              <a:t>які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err="1">
                <a:solidFill>
                  <a:srgbClr val="FF0000"/>
                </a:solidFill>
              </a:rPr>
              <a:t>поєднують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err="1">
                <a:solidFill>
                  <a:srgbClr val="FF0000"/>
                </a:solidFill>
              </a:rPr>
              <a:t>високу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err="1">
                <a:solidFill>
                  <a:srgbClr val="FF0000"/>
                </a:solidFill>
              </a:rPr>
              <a:t>нелінійність</a:t>
            </a:r>
            <a:r>
              <a:rPr lang="ru-RU" sz="2800" b="1" dirty="0">
                <a:solidFill>
                  <a:srgbClr val="FF0000"/>
                </a:solidFill>
              </a:rPr>
              <a:t> (</a:t>
            </a:r>
            <a:r>
              <a:rPr lang="en-US" sz="2800" b="1" dirty="0">
                <a:solidFill>
                  <a:srgbClr val="FF0000"/>
                </a:solidFill>
              </a:rPr>
              <a:t>DL) </a:t>
            </a:r>
            <a:r>
              <a:rPr lang="ru-RU" sz="2800" b="1" dirty="0">
                <a:solidFill>
                  <a:srgbClr val="FF0000"/>
                </a:solidFill>
              </a:rPr>
              <a:t>з прямою </a:t>
            </a:r>
            <a:r>
              <a:rPr lang="ru-RU" sz="2800" b="1" dirty="0" err="1">
                <a:solidFill>
                  <a:srgbClr val="FF0000"/>
                </a:solidFill>
              </a:rPr>
              <a:t>математичною</a:t>
            </a:r>
            <a:r>
              <a:rPr lang="ru-RU" sz="2800" b="1" dirty="0">
                <a:solidFill>
                  <a:srgbClr val="FF0000"/>
                </a:solidFill>
              </a:rPr>
              <a:t> </a:t>
            </a:r>
            <a:r>
              <a:rPr lang="ru-RU" sz="2800" b="1" dirty="0" err="1">
                <a:solidFill>
                  <a:srgbClr val="FF0000"/>
                </a:solidFill>
              </a:rPr>
              <a:t>синхронізацією</a:t>
            </a:r>
            <a:r>
              <a:rPr lang="ru-RU" sz="2800" b="1" dirty="0">
                <a:solidFill>
                  <a:srgbClr val="FF0000"/>
                </a:solidFill>
              </a:rPr>
              <a:t> ментальних </a:t>
            </a:r>
            <a:r>
              <a:rPr lang="ru-RU" sz="2800" b="1" dirty="0" err="1">
                <a:solidFill>
                  <a:srgbClr val="FF0000"/>
                </a:solidFill>
              </a:rPr>
              <a:t>образів</a:t>
            </a:r>
            <a:r>
              <a:rPr lang="ru-RU" sz="2800" b="1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FDCC4A2-ECEC-44E3-9C6C-42639349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4795" y="447902"/>
            <a:ext cx="523240" cy="453246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10</a:t>
            </a:fld>
            <a:endParaRPr lang="en-US" sz="3200" dirty="0">
              <a:latin typeface="+mn-lt"/>
            </a:endParaRPr>
          </a:p>
        </p:txBody>
      </p:sp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7C2ACD16-0909-4E2A-8DFF-B2049FEF9236}"/>
              </a:ext>
            </a:extLst>
          </p:cNvPr>
          <p:cNvSpPr/>
          <p:nvPr/>
        </p:nvSpPr>
        <p:spPr>
          <a:xfrm>
            <a:off x="1341777" y="775586"/>
            <a:ext cx="99686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bg1"/>
                </a:solidFill>
              </a:rPr>
              <a:t>ВІД ЧОРНОЇ СКРИНЬКИ ДО МЕНТАЛЬНОЇ МОДЕЛІ</a:t>
            </a:r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2D214469-9D71-45BA-8577-FF00E0414BCF}"/>
              </a:ext>
            </a:extLst>
          </p:cNvPr>
          <p:cNvSpPr/>
          <p:nvPr/>
        </p:nvSpPr>
        <p:spPr>
          <a:xfrm>
            <a:off x="2871747" y="1795648"/>
            <a:ext cx="45039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bg1"/>
                </a:solidFill>
              </a:rPr>
              <a:t>Стратегія наукової групи</a:t>
            </a:r>
          </a:p>
        </p:txBody>
      </p:sp>
      <p:sp>
        <p:nvSpPr>
          <p:cNvPr id="9" name="Стрілка: п’ятикутник 8">
            <a:extLst>
              <a:ext uri="{FF2B5EF4-FFF2-40B4-BE49-F238E27FC236}">
                <a16:creationId xmlns:a16="http://schemas.microsoft.com/office/drawing/2014/main" id="{9AFFD3D7-64B2-4DD8-B5B5-E83CE5947A61}"/>
              </a:ext>
            </a:extLst>
          </p:cNvPr>
          <p:cNvSpPr/>
          <p:nvPr/>
        </p:nvSpPr>
        <p:spPr>
          <a:xfrm>
            <a:off x="614855" y="2632841"/>
            <a:ext cx="5481145" cy="796159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b="1" dirty="0">
                <a:solidFill>
                  <a:schemeClr val="bg1"/>
                </a:solidFill>
              </a:rPr>
              <a:t>1. Математичне наближення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az-Latn-AZ" sz="2800" b="1" dirty="0">
                <a:solidFill>
                  <a:schemeClr val="bg1"/>
                </a:solidFill>
              </a:rPr>
              <a:t>Mathematical approximation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11" name="Стрілка: п’ятикутник 10">
            <a:extLst>
              <a:ext uri="{FF2B5EF4-FFF2-40B4-BE49-F238E27FC236}">
                <a16:creationId xmlns:a16="http://schemas.microsoft.com/office/drawing/2014/main" id="{B35D9793-C521-4218-9D2D-6A96F8F04689}"/>
              </a:ext>
            </a:extLst>
          </p:cNvPr>
          <p:cNvSpPr/>
          <p:nvPr/>
        </p:nvSpPr>
        <p:spPr>
          <a:xfrm>
            <a:off x="2871747" y="3839598"/>
            <a:ext cx="5481145" cy="796159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b="1" dirty="0">
                <a:solidFill>
                  <a:schemeClr val="bg1"/>
                </a:solidFill>
              </a:rPr>
              <a:t>2. </a:t>
            </a:r>
            <a:r>
              <a:rPr lang="ru-RU" sz="2800" b="1" dirty="0" err="1">
                <a:solidFill>
                  <a:schemeClr val="bg1"/>
                </a:solidFill>
              </a:rPr>
              <a:t>Структурний</a:t>
            </a:r>
            <a:r>
              <a:rPr lang="ru-RU" sz="2800" b="1" dirty="0">
                <a:solidFill>
                  <a:schemeClr val="bg1"/>
                </a:solidFill>
              </a:rPr>
              <a:t> </a:t>
            </a:r>
            <a:r>
              <a:rPr lang="ru-RU" sz="2800" b="1" dirty="0" err="1">
                <a:solidFill>
                  <a:schemeClr val="bg1"/>
                </a:solidFill>
              </a:rPr>
              <a:t>розклад</a:t>
            </a:r>
            <a:endParaRPr lang="en-US" sz="2800" b="1" dirty="0">
              <a:solidFill>
                <a:schemeClr val="bg1"/>
              </a:solidFill>
            </a:endParaRPr>
          </a:p>
          <a:p>
            <a:pPr algn="ctr"/>
            <a:r>
              <a:rPr lang="az-Latn-AZ" sz="2800" b="1" dirty="0">
                <a:solidFill>
                  <a:schemeClr val="bg1"/>
                </a:solidFill>
              </a:rPr>
              <a:t>Structural decomposition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12" name="Стрілка: п’ятикутник 11">
            <a:extLst>
              <a:ext uri="{FF2B5EF4-FFF2-40B4-BE49-F238E27FC236}">
                <a16:creationId xmlns:a16="http://schemas.microsoft.com/office/drawing/2014/main" id="{CFBC3CF6-D9D5-4A44-A030-9C6DF07D3D31}"/>
              </a:ext>
            </a:extLst>
          </p:cNvPr>
          <p:cNvSpPr/>
          <p:nvPr/>
        </p:nvSpPr>
        <p:spPr>
          <a:xfrm>
            <a:off x="5383650" y="5286255"/>
            <a:ext cx="5481145" cy="796159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800" b="1" dirty="0">
                <a:solidFill>
                  <a:schemeClr val="bg1"/>
                </a:solidFill>
              </a:rPr>
              <a:t>3. </a:t>
            </a:r>
            <a:r>
              <a:rPr lang="ru-RU" sz="2800" b="1" dirty="0" err="1">
                <a:solidFill>
                  <a:schemeClr val="bg1"/>
                </a:solidFill>
              </a:rPr>
              <a:t>Архітектурна</a:t>
            </a:r>
            <a:r>
              <a:rPr lang="ru-RU" sz="2800" b="1" dirty="0">
                <a:solidFill>
                  <a:schemeClr val="bg1"/>
                </a:solidFill>
              </a:rPr>
              <a:t> </a:t>
            </a:r>
            <a:r>
              <a:rPr lang="ru-RU" sz="2800" b="1" dirty="0" err="1">
                <a:solidFill>
                  <a:schemeClr val="bg1"/>
                </a:solidFill>
              </a:rPr>
              <a:t>дистиляція</a:t>
            </a:r>
            <a:endParaRPr lang="en-US" sz="2800" b="1" dirty="0">
              <a:solidFill>
                <a:schemeClr val="bg1"/>
              </a:solidFill>
            </a:endParaRPr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Architectural distillation</a:t>
            </a:r>
            <a:endParaRPr lang="ru-R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FDCC4A2-ECEC-44E3-9C6C-42639349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4795" y="447902"/>
            <a:ext cx="523240" cy="453246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11</a:t>
            </a:fld>
            <a:endParaRPr lang="en-US" sz="3200" dirty="0">
              <a:latin typeface="+mn-lt"/>
            </a:endParaRP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9ABD2F0C-F970-42BD-A261-8E61EDB802C5}"/>
              </a:ext>
            </a:extLst>
          </p:cNvPr>
          <p:cNvSpPr/>
          <p:nvPr/>
        </p:nvSpPr>
        <p:spPr>
          <a:xfrm>
            <a:off x="1284269" y="674525"/>
            <a:ext cx="815037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4400" b="1" noProof="0" dirty="0">
                <a:solidFill>
                  <a:schemeClr val="bg1"/>
                </a:solidFill>
              </a:rPr>
              <a:t>Апроксимація складних </a:t>
            </a:r>
            <a:r>
              <a:rPr lang="ru-RU" sz="4400" b="1" dirty="0">
                <a:solidFill>
                  <a:schemeClr val="bg1"/>
                </a:solidFill>
              </a:rPr>
              <a:t>моделей</a:t>
            </a:r>
          </a:p>
        </p:txBody>
      </p:sp>
      <p:sp>
        <p:nvSpPr>
          <p:cNvPr id="8" name="Стрілка: п’ятикутник 7">
            <a:extLst>
              <a:ext uri="{FF2B5EF4-FFF2-40B4-BE49-F238E27FC236}">
                <a16:creationId xmlns:a16="http://schemas.microsoft.com/office/drawing/2014/main" id="{EA4EC448-B1E4-4544-8511-CCF251F2BD2C}"/>
              </a:ext>
            </a:extLst>
          </p:cNvPr>
          <p:cNvSpPr/>
          <p:nvPr/>
        </p:nvSpPr>
        <p:spPr>
          <a:xfrm>
            <a:off x="630621" y="2332412"/>
            <a:ext cx="10594427" cy="45324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2000" b="1" noProof="0" dirty="0">
                <a:solidFill>
                  <a:schemeClr val="bg1"/>
                </a:solidFill>
              </a:rPr>
              <a:t>Математичний</a:t>
            </a:r>
            <a:r>
              <a:rPr lang="ru-RU" sz="2000" b="1" dirty="0">
                <a:solidFill>
                  <a:schemeClr val="bg1"/>
                </a:solidFill>
              </a:rPr>
              <a:t> пере</a:t>
            </a:r>
            <a:r>
              <a:rPr lang="uk-UA" sz="2000" b="1" dirty="0">
                <a:solidFill>
                  <a:schemeClr val="bg1"/>
                </a:solidFill>
              </a:rPr>
              <a:t>творювач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9" name="Стрілка: п’ятикутник 8">
            <a:extLst>
              <a:ext uri="{FF2B5EF4-FFF2-40B4-BE49-F238E27FC236}">
                <a16:creationId xmlns:a16="http://schemas.microsoft.com/office/drawing/2014/main" id="{EA6DDC23-1F93-4D8E-9FEB-53B518152A4C}"/>
              </a:ext>
            </a:extLst>
          </p:cNvPr>
          <p:cNvSpPr/>
          <p:nvPr/>
        </p:nvSpPr>
        <p:spPr>
          <a:xfrm>
            <a:off x="630621" y="3018238"/>
            <a:ext cx="2916620" cy="257631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b="1" dirty="0">
              <a:solidFill>
                <a:schemeClr val="bg1"/>
              </a:solidFill>
            </a:endParaRPr>
          </a:p>
          <a:p>
            <a:r>
              <a:rPr lang="uk-UA" b="1" dirty="0">
                <a:solidFill>
                  <a:schemeClr val="bg1"/>
                </a:solidFill>
              </a:rPr>
              <a:t>Формальна модель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endParaRPr lang="uk-UA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(</a:t>
            </a:r>
            <a:r>
              <a:rPr lang="uk-UA" b="1" dirty="0">
                <a:solidFill>
                  <a:schemeClr val="bg1"/>
                </a:solidFill>
              </a:rPr>
              <a:t>Чорна скринька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  <a:p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r>
              <a:rPr lang="uk-UA" sz="1400" b="1" noProof="0" dirty="0">
                <a:solidFill>
                  <a:schemeClr val="bg1"/>
                </a:solidFill>
              </a:rPr>
              <a:t>Комплексний тензорний простір, мільйони параметрів, нелінійні приховані залежності</a:t>
            </a:r>
            <a:endParaRPr lang="uk-UA" sz="1400" noProof="0" dirty="0">
              <a:solidFill>
                <a:schemeClr val="bg1"/>
              </a:solidFill>
            </a:endParaRPr>
          </a:p>
        </p:txBody>
      </p:sp>
      <p:sp>
        <p:nvSpPr>
          <p:cNvPr id="10" name="Стрілка: п’ятикутник 9">
            <a:extLst>
              <a:ext uri="{FF2B5EF4-FFF2-40B4-BE49-F238E27FC236}">
                <a16:creationId xmlns:a16="http://schemas.microsoft.com/office/drawing/2014/main" id="{0062BF09-84F9-43D5-8CDF-42B3D5A32DB1}"/>
              </a:ext>
            </a:extLst>
          </p:cNvPr>
          <p:cNvSpPr/>
          <p:nvPr/>
        </p:nvSpPr>
        <p:spPr>
          <a:xfrm>
            <a:off x="7514895" y="3018239"/>
            <a:ext cx="4403833" cy="276770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chemeClr val="bg1"/>
              </a:solidFill>
            </a:endParaRPr>
          </a:p>
          <a:p>
            <a:endParaRPr lang="en-US" sz="1000" b="1" dirty="0">
              <a:solidFill>
                <a:schemeClr val="bg1"/>
              </a:solidFill>
            </a:endParaRPr>
          </a:p>
          <a:p>
            <a:r>
              <a:rPr lang="uk-UA" b="1" dirty="0">
                <a:solidFill>
                  <a:schemeClr val="bg1"/>
                </a:solidFill>
              </a:rPr>
              <a:t>Ментальна модель</a:t>
            </a:r>
            <a:r>
              <a:rPr lang="en-US" b="1" dirty="0">
                <a:solidFill>
                  <a:schemeClr val="bg1"/>
                </a:solidFill>
              </a:rPr>
              <a:t> (</a:t>
            </a:r>
            <a:r>
              <a:rPr lang="uk-UA" b="1" dirty="0">
                <a:solidFill>
                  <a:schemeClr val="bg1"/>
                </a:solidFill>
              </a:rPr>
              <a:t>Біла </a:t>
            </a:r>
            <a:r>
              <a:rPr lang="uk-UA" b="1" dirty="0" err="1">
                <a:solidFill>
                  <a:schemeClr val="bg1"/>
                </a:solidFill>
              </a:rPr>
              <a:t>скриньк</a:t>
            </a:r>
            <a:r>
              <a:rPr lang="en-US" b="1" dirty="0">
                <a:solidFill>
                  <a:schemeClr val="bg1"/>
                </a:solidFill>
              </a:rPr>
              <a:t>)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endParaRPr lang="uk-UA" b="1" dirty="0">
              <a:solidFill>
                <a:schemeClr val="bg1"/>
              </a:solidFill>
            </a:endParaRPr>
          </a:p>
          <a:p>
            <a:endParaRPr lang="uk-UA" b="1" dirty="0">
              <a:solidFill>
                <a:schemeClr val="bg1"/>
              </a:solidFill>
            </a:endParaRPr>
          </a:p>
          <a:p>
            <a:endParaRPr lang="uk-UA" b="1" dirty="0">
              <a:solidFill>
                <a:schemeClr val="bg1"/>
              </a:solidFill>
            </a:endParaRPr>
          </a:p>
          <a:p>
            <a:endParaRPr lang="uk-UA" sz="1100" b="1" dirty="0">
              <a:solidFill>
                <a:schemeClr val="bg1"/>
              </a:solidFill>
            </a:endParaRPr>
          </a:p>
          <a:p>
            <a:endParaRPr lang="en-US" sz="1600" b="1" dirty="0">
              <a:solidFill>
                <a:schemeClr val="bg1"/>
              </a:solidFill>
            </a:endParaRPr>
          </a:p>
          <a:p>
            <a:r>
              <a:rPr lang="uk-UA" sz="1600" b="1" noProof="0" dirty="0">
                <a:solidFill>
                  <a:schemeClr val="bg1"/>
                </a:solidFill>
              </a:rPr>
              <a:t>Семантичний змістовний простір, 
когнітивні образи, 
Довіра до ріш</a:t>
            </a:r>
            <a:r>
              <a:rPr lang="ru-RU" sz="1600" b="1" dirty="0" err="1">
                <a:solidFill>
                  <a:schemeClr val="bg1"/>
                </a:solidFill>
              </a:rPr>
              <a:t>ень</a:t>
            </a:r>
            <a:endParaRPr lang="uk-UA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1" name="Стрілка: п’ятикутник 10">
            <a:extLst>
              <a:ext uri="{FF2B5EF4-FFF2-40B4-BE49-F238E27FC236}">
                <a16:creationId xmlns:a16="http://schemas.microsoft.com/office/drawing/2014/main" id="{28BF6B7C-DE64-4E42-A4E7-BFC389026852}"/>
              </a:ext>
            </a:extLst>
          </p:cNvPr>
          <p:cNvSpPr/>
          <p:nvPr/>
        </p:nvSpPr>
        <p:spPr>
          <a:xfrm>
            <a:off x="3683876" y="3018238"/>
            <a:ext cx="3773214" cy="276770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k-UA" b="1" dirty="0">
                <a:solidFill>
                  <a:schemeClr val="bg1"/>
                </a:solidFill>
              </a:rPr>
              <a:t>Апроксимаційний інтерфейс</a:t>
            </a: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uk-UA" b="1" dirty="0">
              <a:solidFill>
                <a:schemeClr val="bg1"/>
              </a:solidFill>
            </a:endParaRPr>
          </a:p>
          <a:p>
            <a:pPr algn="ctr"/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2" name="Блок-схема: процес 11">
            <a:extLst>
              <a:ext uri="{FF2B5EF4-FFF2-40B4-BE49-F238E27FC236}">
                <a16:creationId xmlns:a16="http://schemas.microsoft.com/office/drawing/2014/main" id="{10342055-047E-405A-9ADC-9D08CB5DEE09}"/>
              </a:ext>
            </a:extLst>
          </p:cNvPr>
          <p:cNvSpPr/>
          <p:nvPr/>
        </p:nvSpPr>
        <p:spPr>
          <a:xfrm>
            <a:off x="630621" y="6018524"/>
            <a:ext cx="11398469" cy="61819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b="1" noProof="0" dirty="0">
                <a:solidFill>
                  <a:schemeClr val="bg1"/>
                </a:solidFill>
              </a:rPr>
              <a:t>Апроксимація дозволяє математично довести взаємозв'язок між вагами нейронів і експертними зображеннями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3B66D17-502E-4F2D-A4B9-AD2DF7573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945" y="3330528"/>
            <a:ext cx="2143125" cy="24133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FA7AF9-CA5E-44C1-A7C8-77E6842ED09D}"/>
                  </a:ext>
                </a:extLst>
              </p:cNvPr>
              <p:cNvSpPr txBox="1"/>
              <p:nvPr/>
            </p:nvSpPr>
            <p:spPr>
              <a:xfrm>
                <a:off x="3683876" y="3956192"/>
                <a:ext cx="287671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5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5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5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5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5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ru-RU" sz="5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FA7AF9-CA5E-44C1-A7C8-77E6842ED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876" y="3956192"/>
                <a:ext cx="2876715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ED1AC0E-3629-4124-BB0C-75472DA0E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08" y="3674104"/>
            <a:ext cx="1685566" cy="88580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C58A1BA-8F57-44D2-9E13-49D0DA9CFE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4159" y="3439345"/>
            <a:ext cx="2100462" cy="123748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91E6DDA-1681-4907-82E0-7E5A806D66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3498" y="3775914"/>
            <a:ext cx="1271550" cy="900918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624804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sk layout bar"/>
          <p:cNvSpPr/>
          <p:nvPr/>
        </p:nvSpPr>
        <p:spPr>
          <a:xfrm>
            <a:off x="530352" y="2048256"/>
            <a:ext cx="22402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FDCC4A2-ECEC-44E3-9C6C-42639349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4795" y="447902"/>
            <a:ext cx="523240" cy="453246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12</a:t>
            </a:fld>
            <a:endParaRPr lang="en-US" sz="3200" dirty="0">
              <a:latin typeface="+mn-lt"/>
            </a:endParaRP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E094145E-A0C6-4CE2-BF4B-39B9C1BEBDDB}"/>
              </a:ext>
            </a:extLst>
          </p:cNvPr>
          <p:cNvSpPr/>
          <p:nvPr/>
        </p:nvSpPr>
        <p:spPr>
          <a:xfrm>
            <a:off x="274320" y="73152"/>
            <a:ext cx="8595360" cy="822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6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Математичний апарат синхронізації: матриці переходу та псевдообернення</a:t>
            </a:r>
            <a:endParaRPr lang="ru-RU" sz="2800" b="1" dirty="0"/>
          </a:p>
        </p:txBody>
      </p:sp>
      <p:sp>
        <p:nvSpPr>
          <p:cNvPr id="13" name="Panel: theory"/>
          <p:cNvSpPr/>
          <p:nvPr/>
        </p:nvSpPr>
        <p:spPr>
          <a:xfrm>
            <a:off x="228600" y="932688"/>
            <a:ext cx="6172200" cy="5029200"/>
          </a:xfrm>
          <a:prstGeom prst="roundRect">
            <a:avLst>
              <a:gd name="adj" fmla="val 2181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anel: theory title"/>
          <p:cNvSpPr txBox="1"/>
          <p:nvPr/>
        </p:nvSpPr>
        <p:spPr>
          <a:xfrm>
            <a:off x="338328" y="987552"/>
            <a:ext cx="595274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Постановка задачі та розв’язок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2001879-5052-476E-A14B-0FA121EE1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" y="1481328"/>
            <a:ext cx="433785" cy="56692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77FCADE-C2D2-4031-A04F-EE6DC6BB8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1481328"/>
            <a:ext cx="500878" cy="5669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Рівняння 15"/>
              <p:cNvSpPr txBox="1"/>
              <p:nvPr/>
            </p:nvSpPr>
            <p:spPr>
              <a:xfrm>
                <a:off x="786384" y="1325880"/>
                <a:ext cx="2416492" cy="5946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Sup>
                                  <m:e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e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1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  <m:sup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uk-UA" sz="11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1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1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1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e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e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1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  <m:sup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5" name="Рівняння 15"/>
              <p:cNvSpPr txBox="1"/>
              <p:nvPr/>
            </p:nvSpPr>
            <p:spPr>
              <a:xfrm>
                <a:off x="786384" y="1353312"/>
                <a:ext cx="2146935" cy="539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Рівняння 16"/>
              <p:cNvSpPr txBox="1"/>
              <p:nvPr/>
            </p:nvSpPr>
            <p:spPr>
              <a:xfrm>
                <a:off x="3767328" y="1325880"/>
                <a:ext cx="2352873" cy="5946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sSubSup>
                                  <m:e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e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1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sub>
                                  <m:sup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uk-UA" sz="11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1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1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1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Sup>
                                  <m:e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e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uk-UA" sz="115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e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l</m:t>
                                    </m:r>
                                  </m:sub>
                                  <m:sup>
                                    <m:r>
                                      <a:rPr lang="uk-UA" sz="115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l</m:t>
                          </m:r>
                        </m:sup>
                      </m:sSup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6" name="Рівняння 16"/>
              <p:cNvSpPr txBox="1"/>
              <p:nvPr/>
            </p:nvSpPr>
            <p:spPr>
              <a:xfrm>
                <a:off x="3767328" y="1353312"/>
                <a:ext cx="2089099" cy="539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365760" y="2212848"/>
            <a:ext cx="594360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Рядок — той самий об’єкт: </a:t>
            </a:r>
            <a:r>
              <a:rPr sz="9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 — ознаки нейромережі (формальна модель), B — ознаки, зрозумілі людині (ментальна модель)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Рівняння 18"/>
              <p:cNvSpPr txBox="1"/>
              <p:nvPr/>
            </p:nvSpPr>
            <p:spPr>
              <a:xfrm>
                <a:off x="2057400" y="2560320"/>
                <a:ext cx="3003986" cy="36210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arg min</m:t>
                          </m:r>
                        </m:e>
                        <m:lim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p>
                            <m:e>
                              <m:r>
                                <m:rPr>
                                  <m:sty m:val="p"/>
                                  <m:scr m:val="double-struck"/>
                                </m:rPr>
                                <a:rPr lang="uk-UA" sz="12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uk-UA" sz="12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×</m:t>
                              </m:r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sup>
                          </m:sSup>
                        </m:lim>
                      </m:limLow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∥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</m:sub>
                        <m:sup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18" name="Рівняння 18"/>
              <p:cNvSpPr txBox="1"/>
              <p:nvPr/>
            </p:nvSpPr>
            <p:spPr>
              <a:xfrm>
                <a:off x="2057400" y="2587751"/>
                <a:ext cx="2681020" cy="3072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347472" y="2613355"/>
            <a:ext cx="274320" cy="274320"/>
          </a:xfrm>
          <a:prstGeom prst="ellipse">
            <a:avLst/>
          </a:prstGeom>
          <a:solidFill>
            <a:srgbClr val="7C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2531059"/>
            <a:ext cx="132588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Матриця переходу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Рівняння 21"/>
              <p:cNvSpPr txBox="1"/>
              <p:nvPr/>
            </p:nvSpPr>
            <p:spPr>
              <a:xfrm>
                <a:off x="2057400" y="3013862"/>
                <a:ext cx="4180819" cy="2852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p>
                                <m:e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uk-UA" sz="120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</m:sup>
                      </m:sSup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k</m:t>
                      </m:r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21" name="Рівняння 21"/>
              <p:cNvSpPr txBox="1"/>
              <p:nvPr/>
            </p:nvSpPr>
            <p:spPr>
              <a:xfrm>
                <a:off x="2057400" y="3041294"/>
                <a:ext cx="3750868" cy="2304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Рівняння 22"/>
              <p:cNvSpPr txBox="1"/>
              <p:nvPr/>
            </p:nvSpPr>
            <p:spPr>
              <a:xfrm>
                <a:off x="2057400" y="3317443"/>
                <a:ext cx="2157069" cy="2852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sSup>
                                <m:e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uk-UA" sz="120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⊤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k</m:t>
                      </m:r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22" name="Рівняння 22"/>
              <p:cNvSpPr txBox="1"/>
              <p:nvPr/>
            </p:nvSpPr>
            <p:spPr>
              <a:xfrm>
                <a:off x="2057400" y="3344875"/>
                <a:ext cx="1911095" cy="2304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3" name="Oval 22"/>
          <p:cNvSpPr/>
          <p:nvPr/>
        </p:nvSpPr>
        <p:spPr>
          <a:xfrm>
            <a:off x="347472" y="3180283"/>
            <a:ext cx="274320" cy="274320"/>
          </a:xfrm>
          <a:prstGeom prst="ellipse">
            <a:avLst/>
          </a:prstGeom>
          <a:solidFill>
            <a:srgbClr val="449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3097987"/>
            <a:ext cx="132588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Нормальні рівняння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Рівняння 25"/>
              <p:cNvSpPr txBox="1"/>
              <p:nvPr/>
            </p:nvSpPr>
            <p:spPr>
              <a:xfrm>
                <a:off x="2057400" y="3694175"/>
                <a:ext cx="2301910" cy="19933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U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Σ</m:t>
                      </m:r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V</m:t>
                      </m:r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</m:sup>
                      </m:sSup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25" name="Рівняння 25"/>
              <p:cNvSpPr txBox="1"/>
              <p:nvPr/>
            </p:nvSpPr>
            <p:spPr>
              <a:xfrm>
                <a:off x="2057400" y="3721607"/>
                <a:ext cx="2042769" cy="1444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Рівняння 26"/>
              <p:cNvSpPr txBox="1"/>
              <p:nvPr/>
            </p:nvSpPr>
            <p:spPr>
              <a:xfrm>
                <a:off x="2057400" y="3911803"/>
                <a:ext cx="3659794" cy="52669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diag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Sup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uk-UA" sz="12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…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sSubSup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uk-UA" sz="12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</m:sup>
                          </m:sSubSup>
                        </m:e>
                      </m:d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sSub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σ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  <m:mc>
                                  <m:mcPr>
                                    <m:mcJc m:val="left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uk-UA" sz="12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uk-UA" sz="12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sSub>
                                  <m:e>
                                    <m:r>
                                      <a:rPr lang="uk-UA" sz="12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uk-UA" sz="12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uk-UA" sz="12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uk-UA" sz="12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uk-UA" sz="12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uk-UA" sz="12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&gt;</m:t>
                                </m:r>
                                <m:r>
                                  <a:rPr lang="uk-UA" sz="12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uk-UA" sz="12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2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  <m:r>
                                  <m:rPr>
                                    <m:sty m:val="p"/>
                                  </m:rPr>
                                  <a:rPr lang="uk-UA" sz="12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a:rPr lang="uk-UA" sz="12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uk-UA" sz="1200" b="0" i="1">
                                        <a:solidFill>
                                          <a:srgbClr val="1F1F1F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uk-UA" sz="1200" b="0" i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uk-UA" sz="120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26" name="Рівняння 26"/>
              <p:cNvSpPr txBox="1"/>
              <p:nvPr/>
            </p:nvSpPr>
            <p:spPr>
              <a:xfrm>
                <a:off x="2057400" y="3939235"/>
                <a:ext cx="3277209" cy="4718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7" name="Oval 26"/>
          <p:cNvSpPr/>
          <p:nvPr/>
        </p:nvSpPr>
        <p:spPr>
          <a:xfrm>
            <a:off x="347472" y="3938320"/>
            <a:ext cx="274320" cy="274320"/>
          </a:xfrm>
          <a:prstGeom prst="ellipse">
            <a:avLst/>
          </a:prstGeom>
          <a:solidFill>
            <a:srgbClr val="2B7B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3856024"/>
            <a:ext cx="132588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Сингулярний розклад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Рівняння 29"/>
              <p:cNvSpPr txBox="1"/>
              <p:nvPr/>
            </p:nvSpPr>
            <p:spPr>
              <a:xfrm>
                <a:off x="2057400" y="4529937"/>
                <a:ext cx="3838834" cy="44074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λ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p>
                                <m:e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uk-UA" sz="120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uk-UA" sz="12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diag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num>
                            <m:den>
                              <m:sSubSup>
                                <m:e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uk-UA" sz="12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</m:den>
                          </m:f>
                        </m:e>
                      </m:d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29" name="Рівняння 29"/>
              <p:cNvSpPr txBox="1"/>
              <p:nvPr/>
            </p:nvSpPr>
            <p:spPr>
              <a:xfrm>
                <a:off x="2057400" y="4557369"/>
                <a:ext cx="3439972" cy="38587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0" name="Oval 29"/>
          <p:cNvSpPr/>
          <p:nvPr/>
        </p:nvSpPr>
        <p:spPr>
          <a:xfrm>
            <a:off x="347472" y="4622291"/>
            <a:ext cx="274320" cy="274320"/>
          </a:xfrm>
          <a:prstGeom prst="ellipse">
            <a:avLst/>
          </a:prstGeom>
          <a:solidFill>
            <a:srgbClr val="AA5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4539995"/>
            <a:ext cx="132588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Регуляризація Тихонова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Рівняння 32"/>
              <p:cNvSpPr txBox="1"/>
              <p:nvPr/>
            </p:nvSpPr>
            <p:spPr>
              <a:xfrm>
                <a:off x="2057400" y="5062118"/>
                <a:ext cx="2851099" cy="5212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sSub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  <m:e>
                          <m:sSubSup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uk-UA" sz="12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*</m:t>
                              </m:r>
                            </m:sup>
                          </m:sSubSup>
                        </m:e>
                      </m:nary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sSub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bar>
                        <m:barPr>
                          <m:pos m:val="top"/>
                        </m:barPr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bar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32" name="Рівняння 32"/>
              <p:cNvSpPr txBox="1"/>
              <p:nvPr/>
            </p:nvSpPr>
            <p:spPr>
              <a:xfrm>
                <a:off x="2057400" y="5089550"/>
                <a:ext cx="2542032" cy="4663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3" name="Oval 32"/>
          <p:cNvSpPr/>
          <p:nvPr/>
        </p:nvSpPr>
        <p:spPr>
          <a:xfrm>
            <a:off x="347472" y="5194706"/>
            <a:ext cx="274320" cy="274320"/>
          </a:xfrm>
          <a:prstGeom prst="ellipse">
            <a:avLst/>
          </a:prstGeom>
          <a:solidFill>
            <a:srgbClr val="E06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5112410"/>
            <a:ext cx="132588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Пояснення нового об’єкта</a:t>
            </a:r>
          </a:p>
        </p:txBody>
      </p:sp>
      <p:sp>
        <p:nvSpPr>
          <p:cNvPr id="35" name="Panel: example"/>
          <p:cNvSpPr/>
          <p:nvPr/>
        </p:nvSpPr>
        <p:spPr>
          <a:xfrm>
            <a:off x="6537960" y="932688"/>
            <a:ext cx="5257800" cy="5029200"/>
          </a:xfrm>
          <a:prstGeom prst="roundRect">
            <a:avLst>
              <a:gd name="adj" fmla="val 2181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anel: example title"/>
          <p:cNvSpPr txBox="1"/>
          <p:nvPr/>
        </p:nvSpPr>
        <p:spPr>
          <a:xfrm>
            <a:off x="6647688" y="987552"/>
            <a:ext cx="503834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Як це працює: числовий приклад (ЕКГ)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6832" y="1298448"/>
            <a:ext cx="5029200" cy="384048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2000"/>
              </a:lnSpc>
            </a:pPr>
            <a:r>
              <a:rPr sz="100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5 записів ЕКГ: </a:t>
            </a:r>
            <a:r>
              <a:rPr sz="10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3 ознаки нейромережі (A) і 2 ознаки лікаря (B) — тривалість QRS, мс, і ЧСС, уд/хв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Рівняння 38"/>
              <p:cNvSpPr txBox="1"/>
              <p:nvPr/>
            </p:nvSpPr>
            <p:spPr>
              <a:xfrm>
                <a:off x="6720840" y="1700784"/>
                <a:ext cx="3012201" cy="9434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1.2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0.8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0.4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0.6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1.3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0.9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1.5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0.4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1.2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0.9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1.5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0.3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1.1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0.7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1.4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75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65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70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78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89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61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77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89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83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68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38" name="Рівняння 38"/>
              <p:cNvSpPr txBox="1"/>
              <p:nvPr/>
            </p:nvSpPr>
            <p:spPr>
              <a:xfrm>
                <a:off x="6720840" y="1728216"/>
                <a:ext cx="2688488" cy="88856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Рівняння 39"/>
              <p:cNvSpPr txBox="1"/>
              <p:nvPr/>
            </p:nvSpPr>
            <p:spPr>
              <a:xfrm>
                <a:off x="6720840" y="2898648"/>
                <a:ext cx="4012760" cy="5946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</m:sup>
                      </m:sSup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40.8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22.0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24.1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44.1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15.2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8.9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∥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∥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≈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0.005</m:t>
                      </m:r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39" name="Рівняння 39"/>
              <p:cNvSpPr txBox="1"/>
              <p:nvPr/>
            </p:nvSpPr>
            <p:spPr>
              <a:xfrm>
                <a:off x="6720840" y="2926079"/>
                <a:ext cx="3598087" cy="5398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cxnSp>
        <p:nvCxnSpPr>
          <p:cNvPr id="40" name="Connector 39"/>
          <p:cNvCxnSpPr/>
          <p:nvPr/>
        </p:nvCxnSpPr>
        <p:spPr>
          <a:xfrm>
            <a:off x="8183880" y="3986783"/>
            <a:ext cx="1828800" cy="173737"/>
          </a:xfrm>
          <a:prstGeom prst="line">
            <a:avLst/>
          </a:prstGeom>
          <a:ln w="80022">
            <a:solidFill>
              <a:srgbClr val="2B7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183880" y="3986783"/>
            <a:ext cx="1828800" cy="777241"/>
          </a:xfrm>
          <a:prstGeom prst="line">
            <a:avLst/>
          </a:prstGeom>
          <a:ln w="47538">
            <a:solidFill>
              <a:srgbClr val="E39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183880" y="4160520"/>
            <a:ext cx="1828800" cy="265176"/>
          </a:xfrm>
          <a:prstGeom prst="line">
            <a:avLst/>
          </a:prstGeom>
          <a:ln w="51167">
            <a:solidFill>
              <a:srgbClr val="2B7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183880" y="4425696"/>
            <a:ext cx="1828800" cy="338328"/>
          </a:xfrm>
          <a:prstGeom prst="line">
            <a:avLst/>
          </a:prstGeom>
          <a:ln w="85725">
            <a:solidFill>
              <a:srgbClr val="E39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183880" y="4160520"/>
            <a:ext cx="1828800" cy="704087"/>
          </a:xfrm>
          <a:prstGeom prst="line">
            <a:avLst/>
          </a:prstGeom>
          <a:ln w="35788">
            <a:solidFill>
              <a:srgbClr val="2B7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183880" y="4764024"/>
            <a:ext cx="1828800" cy="100583"/>
          </a:xfrm>
          <a:prstGeom prst="line">
            <a:avLst/>
          </a:prstGeom>
          <a:ln w="24903">
            <a:solidFill>
              <a:srgbClr val="E39B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766560" y="3822191"/>
            <a:ext cx="1417320" cy="329184"/>
          </a:xfrm>
          <a:prstGeom prst="roundRect">
            <a:avLst>
              <a:gd name="adj" fmla="val 20000"/>
            </a:avLst>
          </a:prstGeom>
          <a:solidFill>
            <a:srgbClr val="EEF4FA"/>
          </a:solidFill>
          <a:ln w="12700">
            <a:solidFill>
              <a:srgbClr val="9DB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766560" y="3822191"/>
            <a:ext cx="141732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10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ознака 1: </a:t>
            </a:r>
            <a:r>
              <a:rPr sz="105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1.4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66560" y="4261104"/>
            <a:ext cx="1417320" cy="329184"/>
          </a:xfrm>
          <a:prstGeom prst="roundRect">
            <a:avLst>
              <a:gd name="adj" fmla="val 20000"/>
            </a:avLst>
          </a:prstGeom>
          <a:solidFill>
            <a:srgbClr val="EEF4FA"/>
          </a:solidFill>
          <a:ln w="12700">
            <a:solidFill>
              <a:srgbClr val="9DB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766560" y="4261104"/>
            <a:ext cx="141732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10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ознака 2: </a:t>
            </a:r>
            <a:r>
              <a:rPr sz="105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66560" y="4700016"/>
            <a:ext cx="1417320" cy="329184"/>
          </a:xfrm>
          <a:prstGeom prst="roundRect">
            <a:avLst>
              <a:gd name="adj" fmla="val 20000"/>
            </a:avLst>
          </a:prstGeom>
          <a:solidFill>
            <a:srgbClr val="EEF4FA"/>
          </a:solidFill>
          <a:ln w="12700">
            <a:solidFill>
              <a:srgbClr val="9DB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766560" y="4700016"/>
            <a:ext cx="141732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10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ознака 3: </a:t>
            </a:r>
            <a:r>
              <a:rPr sz="105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12680" y="393192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B7B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0012680" y="3931920"/>
            <a:ext cx="164592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110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QRS ≈ 86.9 мс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12680" y="4535424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E39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0012680" y="4535424"/>
            <a:ext cx="164592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/>
            <a:r>
              <a:rPr sz="110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ЧСС ≈ 66.1 уд/хв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3529584"/>
            <a:ext cx="201168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950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Новий запис ЕКГ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12680" y="3621024"/>
            <a:ext cx="164592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950" b="1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Пояснення лікарю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79" y="5074920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ctr"/>
            <a:r>
              <a:rPr sz="90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товщина лінії — вага в 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Рівняння 59"/>
              <p:cNvSpPr txBox="1"/>
              <p:nvPr/>
            </p:nvSpPr>
            <p:spPr>
              <a:xfrm>
                <a:off x="6720840" y="5394960"/>
                <a:ext cx="2657475" cy="2441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p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1.4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0.6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1.0</m:t>
                                </m:r>
                              </m:e>
                            </m:mr>
                          </m:m>
                        </m:e>
                      </m:d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86.9</m:t>
                                </m:r>
                              </m:e>
                              <m:e>
                                <m:r>
                                  <a:rPr lang="uk-UA" sz="1150" b="0" i="1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  <m:t>66.1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59" name="Рівняння 59"/>
              <p:cNvSpPr txBox="1"/>
              <p:nvPr/>
            </p:nvSpPr>
            <p:spPr>
              <a:xfrm>
                <a:off x="6720840" y="5422392"/>
                <a:ext cx="2366010" cy="18928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60" name="Джерела"/>
          <p:cNvSpPr txBox="1"/>
          <p:nvPr/>
        </p:nvSpPr>
        <p:spPr>
          <a:xfrm>
            <a:off x="201168" y="6035040"/>
            <a:ext cx="11795760" cy="8046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Джерела: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1. 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Radiuk P., Barmak O., Manziuk E., Krak I. Explainable deep learning: a visual analytics approach with transition matrices. </a:t>
            </a:r>
            <a:r>
              <a:rPr sz="90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Mathematics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 2024. Vol. 12, no. 7. Art. 1024. DOI: </a:t>
            </a:r>
            <a:r>
              <a:rPr sz="90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7"/>
              </a:rPr>
              <a:t>10.3390/math12071024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2. 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Toward explainable deep learning in healthcare through transition matrix and user-friendly features / O. Barmak et al. </a:t>
            </a:r>
            <a:r>
              <a:rPr sz="90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Frontiers in Artificial Intelligence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 2024. Vol. 7. Art. 1482141. DOI: </a:t>
            </a:r>
            <a:r>
              <a:rPr sz="90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8"/>
              </a:rPr>
              <a:t>10.3389/frai.2024.1482141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1476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FDCC4A2-ECEC-44E3-9C6C-42639349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6395" y="173449"/>
            <a:ext cx="523240" cy="453246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13</a:t>
            </a:fld>
            <a:endParaRPr lang="en-US" sz="3200" dirty="0">
              <a:latin typeface="+mn-lt"/>
            </a:endParaRP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A1688FE8-E32B-4BB2-9E19-1E81714FB9C0}"/>
              </a:ext>
            </a:extLst>
          </p:cNvPr>
          <p:cNvSpPr/>
          <p:nvPr/>
        </p:nvSpPr>
        <p:spPr>
          <a:xfrm>
            <a:off x="493984" y="173449"/>
            <a:ext cx="1079412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Структурна </a:t>
            </a:r>
            <a:r>
              <a:rPr lang="uk-UA" sz="3200" b="1" noProof="0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декомпозиція: Ансамблевий підхід до формування зрозумілих рішень</a:t>
            </a:r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ru-RU" sz="3200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405F607-8896-4459-94DD-EBE991DA1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5438"/>
            <a:ext cx="7486022" cy="531638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CD2CEEB-4986-4BB7-B583-1F99B13D7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84" y="2532842"/>
            <a:ext cx="462611" cy="46261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C2BF263-2E58-42BE-8C61-3D876B7F3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0152" y="2532842"/>
            <a:ext cx="463336" cy="46333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4968CD1-87C6-4FFD-A4C5-7D0ABD010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493" y="2532842"/>
            <a:ext cx="463336" cy="463336"/>
          </a:xfrm>
          <a:prstGeom prst="rect">
            <a:avLst/>
          </a:prstGeom>
        </p:spPr>
      </p:pic>
      <p:sp>
        <p:nvSpPr>
          <p:cNvPr id="12" name="Стрілка: вправо 11">
            <a:extLst>
              <a:ext uri="{FF2B5EF4-FFF2-40B4-BE49-F238E27FC236}">
                <a16:creationId xmlns:a16="http://schemas.microsoft.com/office/drawing/2014/main" id="{B708F098-FB46-4FB4-8D01-B56F35760B1B}"/>
              </a:ext>
            </a:extLst>
          </p:cNvPr>
          <p:cNvSpPr/>
          <p:nvPr/>
        </p:nvSpPr>
        <p:spPr>
          <a:xfrm>
            <a:off x="7803077" y="2995453"/>
            <a:ext cx="536027" cy="4846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3F1C0C8-043C-4B23-B4A2-F81E60EB7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344" y="1935888"/>
            <a:ext cx="2707008" cy="2707008"/>
          </a:xfrm>
          <a:prstGeom prst="rect">
            <a:avLst/>
          </a:prstGeom>
        </p:spPr>
      </p:pic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D9FDF207-E156-4DD4-90BA-2030B6AAB753}"/>
              </a:ext>
            </a:extLst>
          </p:cNvPr>
          <p:cNvSpPr/>
          <p:nvPr/>
        </p:nvSpPr>
        <p:spPr>
          <a:xfrm>
            <a:off x="7816833" y="1520390"/>
            <a:ext cx="41428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Єдина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інтерпретована</a:t>
            </a:r>
            <a:r>
              <a:rPr lang="ru-RU" sz="24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4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архітектура</a:t>
            </a:r>
            <a:endParaRPr lang="ru-RU" sz="2400" dirty="0"/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3BA39F5C-FF80-42CB-825A-4034A2880C3A}"/>
              </a:ext>
            </a:extLst>
          </p:cNvPr>
          <p:cNvSpPr/>
          <p:nvPr/>
        </p:nvSpPr>
        <p:spPr>
          <a:xfrm>
            <a:off x="4314004" y="5049846"/>
            <a:ext cx="7877996" cy="154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ts val="1500"/>
              </a:lnSpc>
              <a:spcAft>
                <a:spcPts val="225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Послідовність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кроків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прийняття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рішення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задається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людиною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endParaRPr lang="ru-RU" sz="20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Кожен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вузол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ансамблю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корелює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з ментальною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ознакою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b="1" dirty="0">
              <a:solidFill>
                <a:schemeClr val="bg1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endParaRPr lang="ru-RU" sz="20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ts val="1500"/>
              </a:lnSpc>
              <a:spcAft>
                <a:spcPts val="225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Дистиляція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ансамблю в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нейромережу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з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прозорою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структурою </a:t>
            </a:r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шарів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ru-RU" sz="2000" b="1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663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FDCC4A2-ECEC-44E3-9C6C-42639349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64795" y="447902"/>
            <a:ext cx="523240" cy="453246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14</a:t>
            </a:fld>
            <a:endParaRPr lang="en-US" sz="3200" dirty="0">
              <a:latin typeface="+mn-lt"/>
            </a:endParaRP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6EDDB687-9A4A-4082-961E-E87FA8E15A32}"/>
              </a:ext>
            </a:extLst>
          </p:cNvPr>
          <p:cNvSpPr/>
          <p:nvPr/>
        </p:nvSpPr>
        <p:spPr>
          <a:xfrm>
            <a:off x="1074524" y="0"/>
            <a:ext cx="79029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32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Дистиляція в інтерпретовані архітектури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8E0376A-68A7-4CAB-9892-ACD294BA0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33" y="584775"/>
            <a:ext cx="10341906" cy="4330501"/>
          </a:xfrm>
          <a:prstGeom prst="rect">
            <a:avLst/>
          </a:prstGeom>
        </p:spPr>
      </p:pic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14310ACF-F5B5-4798-9370-52CE7C3125AA}"/>
              </a:ext>
            </a:extLst>
          </p:cNvPr>
          <p:cNvSpPr/>
          <p:nvPr/>
        </p:nvSpPr>
        <p:spPr>
          <a:xfrm>
            <a:off x="207577" y="4915276"/>
            <a:ext cx="118688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D. </a:t>
            </a:r>
            <a:r>
              <a:rPr lang="en-US" sz="1400" dirty="0" err="1">
                <a:solidFill>
                  <a:srgbClr val="272626"/>
                </a:solidFill>
                <a:latin typeface="Arial" panose="020B0604020202020204" pitchFamily="34" charset="0"/>
              </a:rPr>
              <a:t>Borovyk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, O. </a:t>
            </a:r>
            <a:r>
              <a:rPr lang="en-US" sz="14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, P. </a:t>
            </a:r>
            <a:r>
              <a:rPr lang="en-US" sz="1400" dirty="0" err="1">
                <a:solidFill>
                  <a:srgbClr val="272626"/>
                </a:solidFill>
                <a:latin typeface="Arial" panose="020B0604020202020204" pitchFamily="34" charset="0"/>
              </a:rPr>
              <a:t>Radiuk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, and I. </a:t>
            </a:r>
            <a:r>
              <a:rPr lang="en-US" sz="1400" dirty="0" err="1">
                <a:solidFill>
                  <a:srgbClr val="272626"/>
                </a:solidFill>
                <a:latin typeface="Arial" panose="020B0604020202020204" pitchFamily="34" charset="0"/>
              </a:rPr>
              <a:t>Krak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, “Hierarchical deep learning model for identifying similar targets in UAV imagery,” Drones,  2025, vol. 9, no. 11, p. 743. </a:t>
            </a:r>
            <a:r>
              <a:rPr lang="en-US" sz="1400" dirty="0">
                <a:solidFill>
                  <a:srgbClr val="0069B4"/>
                </a:solidFill>
                <a:latin typeface="Arial" panose="020B0604020202020204" pitchFamily="34" charset="0"/>
                <a:hlinkClick r:id="rId4"/>
              </a:rPr>
              <a:t>https://doi.org/10.3390/drones9110743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 </a:t>
            </a:r>
            <a:r>
              <a:rPr lang="uk-UA" sz="1400" dirty="0">
                <a:solidFill>
                  <a:srgbClr val="272626"/>
                </a:solidFill>
                <a:latin typeface="Arial" panose="020B0604020202020204" pitchFamily="34" charset="0"/>
              </a:rPr>
              <a:t>(</a:t>
            </a:r>
            <a:r>
              <a:rPr lang="en-US" sz="14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  <a:endParaRPr lang="en-US" sz="1400" b="0" i="0" dirty="0">
              <a:solidFill>
                <a:srgbClr val="27262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5C186128-5B80-491A-BE11-FEAA9326041C}"/>
              </a:ext>
            </a:extLst>
          </p:cNvPr>
          <p:cNvSpPr/>
          <p:nvPr/>
        </p:nvSpPr>
        <p:spPr>
          <a:xfrm>
            <a:off x="198754" y="5438496"/>
            <a:ext cx="11785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Towards transparent AI in medicine: ECG-based arrhythmia detection with explainable deep learning / O. </a:t>
            </a:r>
            <a:r>
              <a:rPr lang="en-US" sz="1400" dirty="0" err="1">
                <a:solidFill>
                  <a:srgbClr val="272626"/>
                </a:solidFill>
                <a:latin typeface="Arial" panose="020B0604020202020204" pitchFamily="34" charset="0"/>
              </a:rPr>
              <a:t>Kovalchuck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 et a. Technologies. 2025. Vol. 13, no. 1. P. 34. URL: </a:t>
            </a:r>
            <a:r>
              <a:rPr lang="en-US" sz="1400" dirty="0">
                <a:solidFill>
                  <a:srgbClr val="0069B4"/>
                </a:solidFill>
                <a:latin typeface="Arial" panose="020B0604020202020204" pitchFamily="34" charset="0"/>
                <a:hlinkClick r:id="rId5"/>
              </a:rPr>
              <a:t>https://doi.org/10.3390/technologies13010034 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(</a:t>
            </a:r>
            <a:r>
              <a:rPr lang="en-US" sz="14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  <a:endParaRPr lang="en-US" sz="1400" b="0" i="0" dirty="0">
              <a:solidFill>
                <a:srgbClr val="27262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Прямокутник 21">
            <a:extLst>
              <a:ext uri="{FF2B5EF4-FFF2-40B4-BE49-F238E27FC236}">
                <a16:creationId xmlns:a16="http://schemas.microsoft.com/office/drawing/2014/main" id="{91387BA7-0DD6-4685-A2B6-609964603C9F}"/>
              </a:ext>
            </a:extLst>
          </p:cNvPr>
          <p:cNvSpPr/>
          <p:nvPr/>
        </p:nvSpPr>
        <p:spPr>
          <a:xfrm>
            <a:off x="198753" y="5961716"/>
            <a:ext cx="11785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Explainable deep learning for cardiac MRI: Multi-stage segmentation, cascade classification, and visual interpretation / V. </a:t>
            </a:r>
            <a:r>
              <a:rPr lang="en-US" sz="1400" dirty="0" err="1">
                <a:solidFill>
                  <a:srgbClr val="272626"/>
                </a:solidFill>
                <a:latin typeface="Arial" panose="020B0604020202020204" pitchFamily="34" charset="0"/>
              </a:rPr>
              <a:t>Slobodzian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 et a. Scientific Reports. 2025. Preprint. URL: 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  <a:hlinkClick r:id="rId6"/>
              </a:rPr>
              <a:t>https://doi.org/10.20944/preprints202501.1280.v1</a:t>
            </a:r>
            <a:r>
              <a:rPr lang="uk-UA" sz="1400" dirty="0">
                <a:solidFill>
                  <a:srgbClr val="272626"/>
                </a:solidFill>
                <a:latin typeface="Arial" panose="020B0604020202020204" pitchFamily="34" charset="0"/>
              </a:rPr>
              <a:t> (</a:t>
            </a:r>
            <a:r>
              <a:rPr lang="en-US" sz="14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4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5151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5B9D7086-730E-4608-8791-FE828428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7381" y="129542"/>
            <a:ext cx="523240" cy="535392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19</a:t>
            </a:fld>
            <a:endParaRPr lang="en-US" sz="3200" dirty="0">
              <a:latin typeface="+mn-lt"/>
            </a:endParaRP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26AD958F-9FFF-454A-BF91-31909A077AAD}"/>
              </a:ext>
            </a:extLst>
          </p:cNvPr>
          <p:cNvSpPr/>
          <p:nvPr/>
        </p:nvSpPr>
        <p:spPr>
          <a:xfrm>
            <a:off x="131379" y="129542"/>
            <a:ext cx="112046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Людино-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центрований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NLP: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Математичне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обґрунтування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та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логічна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екстракція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в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аналізі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соцмереж</a:t>
            </a:r>
            <a:endParaRPr lang="ru-RU" sz="28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ACFA0F0-B88F-4050-AA05-725198441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79" y="1083649"/>
            <a:ext cx="3907397" cy="468628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8D78AA-7754-4C3E-9D39-6BA864DD5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092" y="1083649"/>
            <a:ext cx="3635421" cy="28769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558471-06AB-44E5-A7BB-EA75B1CC5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2123" y="1083649"/>
            <a:ext cx="3508498" cy="274120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070ACA-A471-48D5-8E90-F39D9E6EFA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7092" y="4494321"/>
            <a:ext cx="3635420" cy="1275609"/>
          </a:xfrm>
          <a:prstGeom prst="rect">
            <a:avLst/>
          </a:prstGeom>
        </p:spPr>
      </p:pic>
      <p:sp>
        <p:nvSpPr>
          <p:cNvPr id="8" name="Стрілка: вправо 7">
            <a:extLst>
              <a:ext uri="{FF2B5EF4-FFF2-40B4-BE49-F238E27FC236}">
                <a16:creationId xmlns:a16="http://schemas.microsoft.com/office/drawing/2014/main" id="{2DDC418A-204C-49CC-867B-6D536F8F69D8}"/>
              </a:ext>
            </a:extLst>
          </p:cNvPr>
          <p:cNvSpPr/>
          <p:nvPr/>
        </p:nvSpPr>
        <p:spPr>
          <a:xfrm>
            <a:off x="4038776" y="4914662"/>
            <a:ext cx="45831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ілка: угору 8">
            <a:extLst>
              <a:ext uri="{FF2B5EF4-FFF2-40B4-BE49-F238E27FC236}">
                <a16:creationId xmlns:a16="http://schemas.microsoft.com/office/drawing/2014/main" id="{58E7127F-0AC9-4067-9D10-D13CAA44C46A}"/>
              </a:ext>
            </a:extLst>
          </p:cNvPr>
          <p:cNvSpPr/>
          <p:nvPr/>
        </p:nvSpPr>
        <p:spPr>
          <a:xfrm>
            <a:off x="5948280" y="3824852"/>
            <a:ext cx="484632" cy="66946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ілка: вправо 9">
            <a:extLst>
              <a:ext uri="{FF2B5EF4-FFF2-40B4-BE49-F238E27FC236}">
                <a16:creationId xmlns:a16="http://schemas.microsoft.com/office/drawing/2014/main" id="{566617BF-4D84-4D0C-A86D-600DC6FBE3C3}"/>
              </a:ext>
            </a:extLst>
          </p:cNvPr>
          <p:cNvSpPr/>
          <p:nvPr/>
        </p:nvSpPr>
        <p:spPr>
          <a:xfrm>
            <a:off x="8101625" y="2363679"/>
            <a:ext cx="48920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кутник 10">
            <a:extLst>
              <a:ext uri="{FF2B5EF4-FFF2-40B4-BE49-F238E27FC236}">
                <a16:creationId xmlns:a16="http://schemas.microsoft.com/office/drawing/2014/main" id="{31842EC9-FFF8-4E43-BDCC-E1985C571F65}"/>
              </a:ext>
            </a:extLst>
          </p:cNvPr>
          <p:cNvSpPr/>
          <p:nvPr/>
        </p:nvSpPr>
        <p:spPr>
          <a:xfrm>
            <a:off x="65689" y="5796535"/>
            <a:ext cx="120606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Krak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Molchanova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Didur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Sobko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Mazurets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Barmak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O. Method of semantic features estimation for political propaganda techniques detection using transformer neural networks. CEUR Workshop Proceedings, 2025, vol. 3917, pp. 286-297. URL: https://ceur-ws.org/Vol-3917/paper56.pdf</a:t>
            </a:r>
            <a:endPara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Прямокутник 11">
            <a:extLst>
              <a:ext uri="{FF2B5EF4-FFF2-40B4-BE49-F238E27FC236}">
                <a16:creationId xmlns:a16="http://schemas.microsoft.com/office/drawing/2014/main" id="{C952A955-A353-40AC-B9A3-FD404EEF0FAC}"/>
              </a:ext>
            </a:extLst>
          </p:cNvPr>
          <p:cNvSpPr/>
          <p:nvPr/>
        </p:nvSpPr>
        <p:spPr>
          <a:xfrm>
            <a:off x="39413" y="6335222"/>
            <a:ext cx="120606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Krak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Sobko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Molchanova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Tymofiiev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Mazurets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O., </a:t>
            </a:r>
            <a:r>
              <a:rPr lang="en-US" sz="1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Barmak</a:t>
            </a:r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O. Method for neural network cyberbullying detection in text content with visual analytic. CEUR Workshop Proceedings, 2025, vol. 3917, pp. 298-309. URL: https://ceur-ws.org/Vol-3917/paper57.pdf</a:t>
            </a:r>
            <a:endParaRPr lang="ru-RU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3536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5B9D7086-730E-4608-8791-FE828428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6378" y="160901"/>
            <a:ext cx="523240" cy="535392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20</a:t>
            </a:fld>
            <a:endParaRPr lang="en-US" sz="3200" dirty="0">
              <a:latin typeface="+mn-lt"/>
            </a:endParaRPr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67F4331F-81FF-4CBC-9A7A-D3B97C52DEBF}"/>
              </a:ext>
            </a:extLst>
          </p:cNvPr>
          <p:cNvSpPr/>
          <p:nvPr/>
        </p:nvSpPr>
        <p:spPr>
          <a:xfrm>
            <a:off x="332741" y="157684"/>
            <a:ext cx="110032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Архітектурна прозорість </a:t>
            </a:r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LLM</a:t>
            </a:r>
            <a:r>
              <a:rPr lang="uk-UA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: Спеціалізація голів уваги (</a:t>
            </a:r>
            <a:r>
              <a:rPr lang="ru-RU" sz="32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Attention</a:t>
            </a:r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32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Heads</a:t>
            </a:r>
            <a:r>
              <a:rPr lang="uk-UA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ru-RU" sz="32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C81DE3-F9E4-469D-BBE5-E0A2BE840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204" y="1376356"/>
            <a:ext cx="4759591" cy="47043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7573D7-CAB8-461B-80D1-6D4F137BF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048" y="3816568"/>
            <a:ext cx="2592844" cy="14294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7F6139-47A5-48FA-BE9D-E4B24CD4062E}"/>
              </a:ext>
            </a:extLst>
          </p:cNvPr>
          <p:cNvSpPr txBox="1"/>
          <p:nvPr/>
        </p:nvSpPr>
        <p:spPr>
          <a:xfrm>
            <a:off x="882869" y="1424978"/>
            <a:ext cx="1932356" cy="369332"/>
          </a:xfrm>
          <a:prstGeom prst="rect">
            <a:avLst/>
          </a:prstGeom>
          <a:noFill/>
          <a:ln w="508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Вхідний текст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D2D54-5B87-4A00-A92D-8223ACF18719}"/>
              </a:ext>
            </a:extLst>
          </p:cNvPr>
          <p:cNvSpPr txBox="1"/>
          <p:nvPr/>
        </p:nvSpPr>
        <p:spPr>
          <a:xfrm>
            <a:off x="583324" y="2317531"/>
            <a:ext cx="249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Ембедінг</a:t>
            </a:r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D25D56-22A1-43F4-81A9-D14BFFFE1410}"/>
              </a:ext>
            </a:extLst>
          </p:cNvPr>
          <p:cNvSpPr txBox="1"/>
          <p:nvPr/>
        </p:nvSpPr>
        <p:spPr>
          <a:xfrm>
            <a:off x="583324" y="2799850"/>
            <a:ext cx="249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Ембедінг</a:t>
            </a:r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89B83-D9A8-4E43-A598-EDFEEC7864C4}"/>
              </a:ext>
            </a:extLst>
          </p:cNvPr>
          <p:cNvSpPr txBox="1"/>
          <p:nvPr/>
        </p:nvSpPr>
        <p:spPr>
          <a:xfrm>
            <a:off x="583324" y="3322115"/>
            <a:ext cx="249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Ембедінг</a:t>
            </a:r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62F6E7-DA79-4344-9A8B-C9816189226E}"/>
              </a:ext>
            </a:extLst>
          </p:cNvPr>
          <p:cNvSpPr txBox="1"/>
          <p:nvPr/>
        </p:nvSpPr>
        <p:spPr>
          <a:xfrm>
            <a:off x="583324" y="4256065"/>
            <a:ext cx="2490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Ембедінг</a:t>
            </a:r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ru-RU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F6E687-57F1-430A-AFDB-4B89F908C9BC}"/>
              </a:ext>
            </a:extLst>
          </p:cNvPr>
          <p:cNvSpPr txBox="1"/>
          <p:nvPr/>
        </p:nvSpPr>
        <p:spPr>
          <a:xfrm>
            <a:off x="740979" y="3733800"/>
            <a:ext cx="819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…</a:t>
            </a:r>
            <a:endParaRPr lang="ru-RU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Стрілка: вправо 11">
            <a:extLst>
              <a:ext uri="{FF2B5EF4-FFF2-40B4-BE49-F238E27FC236}">
                <a16:creationId xmlns:a16="http://schemas.microsoft.com/office/drawing/2014/main" id="{F813F019-46AB-445C-9143-3F2204E93298}"/>
              </a:ext>
            </a:extLst>
          </p:cNvPr>
          <p:cNvSpPr/>
          <p:nvPr/>
        </p:nvSpPr>
        <p:spPr>
          <a:xfrm>
            <a:off x="2175641" y="2502197"/>
            <a:ext cx="1261242" cy="997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E379E7A-59EC-4562-B692-635C9814C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3292" y="3436671"/>
            <a:ext cx="1280271" cy="14022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E41AD2C-C5AB-4455-889F-9BA9E5809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5089" y="2874557"/>
            <a:ext cx="1280271" cy="140220"/>
          </a:xfrm>
          <a:prstGeom prst="rect">
            <a:avLst/>
          </a:prstGeom>
        </p:spPr>
      </p:pic>
      <p:sp>
        <p:nvSpPr>
          <p:cNvPr id="15" name="Стрілка: вправо 14">
            <a:extLst>
              <a:ext uri="{FF2B5EF4-FFF2-40B4-BE49-F238E27FC236}">
                <a16:creationId xmlns:a16="http://schemas.microsoft.com/office/drawing/2014/main" id="{20B01857-1475-4DF6-B14D-C44F969161C0}"/>
              </a:ext>
            </a:extLst>
          </p:cNvPr>
          <p:cNvSpPr/>
          <p:nvPr/>
        </p:nvSpPr>
        <p:spPr>
          <a:xfrm>
            <a:off x="2172321" y="4390862"/>
            <a:ext cx="1261242" cy="997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ілка: вправо 15">
            <a:extLst>
              <a:ext uri="{FF2B5EF4-FFF2-40B4-BE49-F238E27FC236}">
                <a16:creationId xmlns:a16="http://schemas.microsoft.com/office/drawing/2014/main" id="{F27B24F1-4B8C-431C-B2D5-480BC4E7B74C}"/>
              </a:ext>
            </a:extLst>
          </p:cNvPr>
          <p:cNvSpPr/>
          <p:nvPr/>
        </p:nvSpPr>
        <p:spPr>
          <a:xfrm flipV="1">
            <a:off x="8674780" y="4304887"/>
            <a:ext cx="430923" cy="1529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трілка: вправо 17">
            <a:extLst>
              <a:ext uri="{FF2B5EF4-FFF2-40B4-BE49-F238E27FC236}">
                <a16:creationId xmlns:a16="http://schemas.microsoft.com/office/drawing/2014/main" id="{7018A8F4-4AAA-4794-9668-4B92D731A6CB}"/>
              </a:ext>
            </a:extLst>
          </p:cNvPr>
          <p:cNvSpPr/>
          <p:nvPr/>
        </p:nvSpPr>
        <p:spPr>
          <a:xfrm flipV="1">
            <a:off x="8674780" y="4563326"/>
            <a:ext cx="430923" cy="1529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ілка: вправо 18">
            <a:extLst>
              <a:ext uri="{FF2B5EF4-FFF2-40B4-BE49-F238E27FC236}">
                <a16:creationId xmlns:a16="http://schemas.microsoft.com/office/drawing/2014/main" id="{0E437A55-BB17-47BF-B29D-84C246A65D6A}"/>
              </a:ext>
            </a:extLst>
          </p:cNvPr>
          <p:cNvSpPr/>
          <p:nvPr/>
        </p:nvSpPr>
        <p:spPr>
          <a:xfrm flipV="1">
            <a:off x="8672066" y="4835105"/>
            <a:ext cx="430923" cy="1529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3BE64C9-3D19-43EC-A6C5-72C8A1493F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9650" y="1316079"/>
            <a:ext cx="2143125" cy="2002904"/>
          </a:xfrm>
          <a:prstGeom prst="rect">
            <a:avLst/>
          </a:prstGeom>
        </p:spPr>
      </p:pic>
      <p:cxnSp>
        <p:nvCxnSpPr>
          <p:cNvPr id="25" name="Пряма сполучна лінія 24">
            <a:extLst>
              <a:ext uri="{FF2B5EF4-FFF2-40B4-BE49-F238E27FC236}">
                <a16:creationId xmlns:a16="http://schemas.microsoft.com/office/drawing/2014/main" id="{90E655F7-47B5-4CD3-AB66-00497C4CC6D3}"/>
              </a:ext>
            </a:extLst>
          </p:cNvPr>
          <p:cNvCxnSpPr/>
          <p:nvPr/>
        </p:nvCxnSpPr>
        <p:spPr>
          <a:xfrm>
            <a:off x="9559650" y="1794310"/>
            <a:ext cx="1886728" cy="1080247"/>
          </a:xfrm>
          <a:prstGeom prst="line">
            <a:avLst/>
          </a:prstGeom>
          <a:ln w="857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EDDAB63E-5C96-4D52-8205-9393B28940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9550288" y="1794310"/>
            <a:ext cx="1905452" cy="1139709"/>
          </a:xfrm>
          <a:prstGeom prst="rect">
            <a:avLst/>
          </a:prstGeom>
        </p:spPr>
      </p:pic>
      <p:sp>
        <p:nvSpPr>
          <p:cNvPr id="27" name="Стрілка: униз 26">
            <a:extLst>
              <a:ext uri="{FF2B5EF4-FFF2-40B4-BE49-F238E27FC236}">
                <a16:creationId xmlns:a16="http://schemas.microsoft.com/office/drawing/2014/main" id="{0F289B23-F8FB-4995-8E4F-483E4729EECC}"/>
              </a:ext>
            </a:extLst>
          </p:cNvPr>
          <p:cNvSpPr/>
          <p:nvPr/>
        </p:nvSpPr>
        <p:spPr>
          <a:xfrm>
            <a:off x="1828800" y="1923393"/>
            <a:ext cx="204952" cy="28115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кутник 27">
            <a:extLst>
              <a:ext uri="{FF2B5EF4-FFF2-40B4-BE49-F238E27FC236}">
                <a16:creationId xmlns:a16="http://schemas.microsoft.com/office/drawing/2014/main" id="{779DED87-1D60-4568-9FC3-2FE6533306DC}"/>
              </a:ext>
            </a:extLst>
          </p:cNvPr>
          <p:cNvSpPr/>
          <p:nvPr/>
        </p:nvSpPr>
        <p:spPr>
          <a:xfrm>
            <a:off x="217715" y="6193718"/>
            <a:ext cx="117519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Сергієнко І.В., Крак Ю.В., Бармак О.В, Манзюк Е.А., Куляс А.І. Інтелектуальні інформаційні технології: людиноцентрований підхід, принципи етики та довіри. Монографія. – К: </a:t>
            </a:r>
            <a:r>
              <a:rPr lang="ru-RU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Наукова</a:t>
            </a: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думка, 2023. – 310 с.</a:t>
            </a:r>
            <a:endParaRPr lang="uk-UA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103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17B06-0612-1916-DFD1-5FDE6BF1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diagram of a graph and diagram of a graph&#10;&#10;AI-generated content may be incorrect.">
            <a:extLst>
              <a:ext uri="{FF2B5EF4-FFF2-40B4-BE49-F238E27FC236}">
                <a16:creationId xmlns:a16="http://schemas.microsoft.com/office/drawing/2014/main" id="{F85D0D2D-9389-2DBE-4048-63826D115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01737"/>
            <a:ext cx="12192000" cy="6325898"/>
          </a:xfrm>
          <a:prstGeom prst="rect">
            <a:avLst/>
          </a:prstGeom>
        </p:spPr>
      </p:pic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ADD007C3-BEF5-7A02-EECC-9F6D3DDC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098" y="230965"/>
            <a:ext cx="523240" cy="541545"/>
          </a:xfrm>
        </p:spPr>
        <p:txBody>
          <a:bodyPr/>
          <a:lstStyle/>
          <a:p>
            <a:fld id="{294A09A9-5501-47C1-A89A-A340965A2BE2}" type="slidenum">
              <a:rPr lang="en-US" sz="3200" smtClean="0"/>
              <a:pPr/>
              <a:t>21</a:t>
            </a:fld>
            <a:endParaRPr lang="en-US" sz="3200" dirty="0">
              <a:latin typeface="+mn-lt"/>
            </a:endParaRPr>
          </a:p>
        </p:txBody>
      </p:sp>
      <p:sp>
        <p:nvSpPr>
          <p:cNvPr id="8" name="Прямокутник 6">
            <a:extLst>
              <a:ext uri="{FF2B5EF4-FFF2-40B4-BE49-F238E27FC236}">
                <a16:creationId xmlns:a16="http://schemas.microsoft.com/office/drawing/2014/main" id="{DAAF17C9-4F7D-F7EA-63C1-CF47934C920C}"/>
              </a:ext>
            </a:extLst>
          </p:cNvPr>
          <p:cNvSpPr/>
          <p:nvPr/>
        </p:nvSpPr>
        <p:spPr>
          <a:xfrm>
            <a:off x="1" y="0"/>
            <a:ext cx="104013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400" b="1" noProof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Пояснювальний комп’ютерний зір для автономних систем БПЛА</a:t>
            </a:r>
            <a:endParaRPr lang="uk-UA" sz="24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902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F1F3613-D79A-4F74-97C4-A3D5AF50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endParaRPr lang="en-US" dirty="0">
              <a:latin typeface="+mn-lt"/>
            </a:endParaRPr>
          </a:p>
        </p:txBody>
      </p:sp>
      <p:sp>
        <p:nvSpPr>
          <p:cNvPr id="6" name="Місце для номера слайда 1">
            <a:extLst>
              <a:ext uri="{FF2B5EF4-FFF2-40B4-BE49-F238E27FC236}">
                <a16:creationId xmlns:a16="http://schemas.microsoft.com/office/drawing/2014/main" id="{0407D01E-E667-4509-B61B-272D264FE248}"/>
              </a:ext>
            </a:extLst>
          </p:cNvPr>
          <p:cNvSpPr txBox="1">
            <a:spLocks/>
          </p:cNvSpPr>
          <p:nvPr/>
        </p:nvSpPr>
        <p:spPr>
          <a:xfrm>
            <a:off x="11537381" y="123025"/>
            <a:ext cx="523240" cy="53539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z="3200" smtClean="0"/>
              <a:pPr algn="ctr"/>
              <a:t>22</a:t>
            </a:fld>
            <a:endParaRPr lang="en-US" sz="3200" dirty="0"/>
          </a:p>
        </p:txBody>
      </p:sp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4258224F-7DD6-426F-81CA-393938074E9E}"/>
              </a:ext>
            </a:extLst>
          </p:cNvPr>
          <p:cNvSpPr/>
          <p:nvPr/>
        </p:nvSpPr>
        <p:spPr>
          <a:xfrm>
            <a:off x="131379" y="123025"/>
            <a:ext cx="114060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8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Графи атрибуції: Від </a:t>
            </a:r>
            <a:r>
              <a:rPr lang="uk-UA" sz="28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детекції</a:t>
            </a:r>
            <a:r>
              <a:rPr lang="uk-UA" sz="28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об’єктів до розуміння візуальних структур</a:t>
            </a:r>
            <a:endParaRPr lang="uk-UA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B6271-DEAE-49E8-B770-23F3B1208E7F}"/>
              </a:ext>
            </a:extLst>
          </p:cNvPr>
          <p:cNvSpPr txBox="1"/>
          <p:nvPr/>
        </p:nvSpPr>
        <p:spPr>
          <a:xfrm>
            <a:off x="855980" y="1167831"/>
            <a:ext cx="204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Мікро </a:t>
            </a:r>
            <a:r>
              <a:rPr lang="uk-UA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паттерни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ED8ECFD-E0D7-4B32-A573-1FFC27121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900" y="1289386"/>
            <a:ext cx="3998056" cy="22436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33264A-70B0-4FAA-AD6C-B4802F755E3E}"/>
              </a:ext>
            </a:extLst>
          </p:cNvPr>
          <p:cNvSpPr txBox="1"/>
          <p:nvPr/>
        </p:nvSpPr>
        <p:spPr>
          <a:xfrm>
            <a:off x="4096972" y="920054"/>
            <a:ext cx="399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Трансформація візуальної логіки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C9AE274-DBE3-4A2C-813F-08027CFBD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425" y="1637096"/>
            <a:ext cx="2746964" cy="19450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B6AA5E-0005-4295-95B9-BFFC327F15FF}"/>
              </a:ext>
            </a:extLst>
          </p:cNvPr>
          <p:cNvSpPr txBox="1"/>
          <p:nvPr/>
        </p:nvSpPr>
        <p:spPr>
          <a:xfrm>
            <a:off x="8910186" y="1167831"/>
            <a:ext cx="2933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Структурна сегментація</a:t>
            </a:r>
            <a:endParaRPr lang="ru-RU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Стрілка: вправо 11">
            <a:extLst>
              <a:ext uri="{FF2B5EF4-FFF2-40B4-BE49-F238E27FC236}">
                <a16:creationId xmlns:a16="http://schemas.microsoft.com/office/drawing/2014/main" id="{6AFFCEA2-9F09-4416-BCA5-A1233A39D5BF}"/>
              </a:ext>
            </a:extLst>
          </p:cNvPr>
          <p:cNvSpPr/>
          <p:nvPr/>
        </p:nvSpPr>
        <p:spPr>
          <a:xfrm>
            <a:off x="3305123" y="2609635"/>
            <a:ext cx="815158" cy="3626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D587010-D108-48AA-895F-7E9E9FB7F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59" y="1773166"/>
            <a:ext cx="2892018" cy="2035547"/>
          </a:xfrm>
          <a:prstGeom prst="rect">
            <a:avLst/>
          </a:prstGeom>
        </p:spPr>
      </p:pic>
      <p:sp>
        <p:nvSpPr>
          <p:cNvPr id="14" name="Стрілка: вправо 13">
            <a:extLst>
              <a:ext uri="{FF2B5EF4-FFF2-40B4-BE49-F238E27FC236}">
                <a16:creationId xmlns:a16="http://schemas.microsoft.com/office/drawing/2014/main" id="{9FD5F6D2-876D-49D0-9362-FEE4C34DFE22}"/>
              </a:ext>
            </a:extLst>
          </p:cNvPr>
          <p:cNvSpPr/>
          <p:nvPr/>
        </p:nvSpPr>
        <p:spPr>
          <a:xfrm>
            <a:off x="8211576" y="2609635"/>
            <a:ext cx="745229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кутник 14">
            <a:extLst>
              <a:ext uri="{FF2B5EF4-FFF2-40B4-BE49-F238E27FC236}">
                <a16:creationId xmlns:a16="http://schemas.microsoft.com/office/drawing/2014/main" id="{C480667E-5004-4B00-AED7-978027A6E6F3}"/>
              </a:ext>
            </a:extLst>
          </p:cNvPr>
          <p:cNvSpPr/>
          <p:nvPr/>
        </p:nvSpPr>
        <p:spPr>
          <a:xfrm>
            <a:off x="345459" y="4044714"/>
            <a:ext cx="28920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Кольорові вектори виділяють лінії, кути та градієнти</a:t>
            </a:r>
            <a:endParaRPr lang="uk-UA" b="1" dirty="0"/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FE1FCC5B-70EC-4053-88B3-90B2A59A08F4}"/>
              </a:ext>
            </a:extLst>
          </p:cNvPr>
          <p:cNvSpPr/>
          <p:nvPr/>
        </p:nvSpPr>
        <p:spPr>
          <a:xfrm>
            <a:off x="3763506" y="3562520"/>
            <a:ext cx="471389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chemeClr val="bg1"/>
                </a:solidFill>
              </a:rPr>
              <a:t>Вузли</a:t>
            </a:r>
            <a:r>
              <a:rPr lang="ru-RU" b="1" dirty="0">
                <a:solidFill>
                  <a:schemeClr val="bg1"/>
                </a:solidFill>
              </a:rPr>
              <a:t> (</a:t>
            </a:r>
            <a:r>
              <a:rPr lang="en-US" b="1" dirty="0">
                <a:solidFill>
                  <a:schemeClr val="bg1"/>
                </a:solidFill>
              </a:rPr>
              <a:t>Nodes): </a:t>
            </a:r>
            <a:r>
              <a:rPr lang="ru-RU" dirty="0" err="1">
                <a:solidFill>
                  <a:schemeClr val="bg1"/>
                </a:solidFill>
              </a:rPr>
              <a:t>Елементарні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мікро-паттерни</a:t>
            </a:r>
            <a:r>
              <a:rPr lang="ru-RU" dirty="0">
                <a:solidFill>
                  <a:schemeClr val="bg1"/>
                </a:solidFill>
              </a:rPr>
              <a:t> (з </a:t>
            </a:r>
            <a:r>
              <a:rPr lang="ru-RU" dirty="0" err="1">
                <a:solidFill>
                  <a:schemeClr val="bg1"/>
                </a:solidFill>
              </a:rPr>
              <a:t>виходів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середніх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шарів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YOLO).</a:t>
            </a:r>
          </a:p>
          <a:p>
            <a:r>
              <a:rPr lang="ru-RU" b="1" dirty="0">
                <a:solidFill>
                  <a:schemeClr val="bg1"/>
                </a:solidFill>
              </a:rPr>
              <a:t>Ребра (</a:t>
            </a:r>
            <a:r>
              <a:rPr lang="en-US" b="1" dirty="0">
                <a:solidFill>
                  <a:schemeClr val="bg1"/>
                </a:solidFill>
              </a:rPr>
              <a:t>Edges): </a:t>
            </a:r>
            <a:r>
              <a:rPr lang="ru-RU" dirty="0" err="1">
                <a:solidFill>
                  <a:schemeClr val="bg1"/>
                </a:solidFill>
              </a:rPr>
              <a:t>Просторові</a:t>
            </a:r>
            <a:r>
              <a:rPr lang="ru-RU" dirty="0">
                <a:solidFill>
                  <a:schemeClr val="bg1"/>
                </a:solidFill>
              </a:rPr>
              <a:t> та </a:t>
            </a:r>
            <a:r>
              <a:rPr lang="ru-RU" dirty="0" err="1">
                <a:solidFill>
                  <a:schemeClr val="bg1"/>
                </a:solidFill>
              </a:rPr>
              <a:t>ієрархічні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відношення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 err="1">
                <a:solidFill>
                  <a:schemeClr val="bg1"/>
                </a:solidFill>
              </a:rPr>
              <a:t>між</a:t>
            </a:r>
            <a:r>
              <a:rPr lang="ru-RU" dirty="0">
                <a:solidFill>
                  <a:schemeClr val="bg1"/>
                </a:solidFill>
              </a:rPr>
              <a:t> ними («</a:t>
            </a:r>
            <a:r>
              <a:rPr lang="ru-RU" dirty="0" err="1">
                <a:solidFill>
                  <a:schemeClr val="bg1"/>
                </a:solidFill>
              </a:rPr>
              <a:t>поруч</a:t>
            </a:r>
            <a:r>
              <a:rPr lang="ru-RU" dirty="0">
                <a:solidFill>
                  <a:schemeClr val="bg1"/>
                </a:solidFill>
              </a:rPr>
              <a:t>», «</a:t>
            </a:r>
            <a:r>
              <a:rPr lang="ru-RU" dirty="0" err="1">
                <a:solidFill>
                  <a:schemeClr val="bg1"/>
                </a:solidFill>
              </a:rPr>
              <a:t>всередині</a:t>
            </a:r>
            <a:r>
              <a:rPr lang="ru-RU" dirty="0">
                <a:solidFill>
                  <a:schemeClr val="bg1"/>
                </a:solidFill>
              </a:rPr>
              <a:t>», «</a:t>
            </a:r>
            <a:r>
              <a:rPr lang="ru-RU" dirty="0" err="1">
                <a:solidFill>
                  <a:schemeClr val="bg1"/>
                </a:solidFill>
              </a:rPr>
              <a:t>повторюється</a:t>
            </a:r>
            <a:r>
              <a:rPr lang="ru-RU" dirty="0">
                <a:solidFill>
                  <a:schemeClr val="bg1"/>
                </a:solidFill>
              </a:rPr>
              <a:t>»).</a:t>
            </a:r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F027EBC4-36CB-42EA-844A-B9DFBFDF4CEC}"/>
              </a:ext>
            </a:extLst>
          </p:cNvPr>
          <p:cNvSpPr/>
          <p:nvPr/>
        </p:nvSpPr>
        <p:spPr>
          <a:xfrm>
            <a:off x="8674231" y="3682107"/>
            <a:ext cx="34053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Зображення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, де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зони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розфарбовані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не просто як «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об’єкт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», а як «тип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структури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плетіння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».</a:t>
            </a:r>
            <a:endParaRPr lang="ru-RU" b="1" dirty="0"/>
          </a:p>
        </p:txBody>
      </p:sp>
      <p:sp>
        <p:nvSpPr>
          <p:cNvPr id="19" name="Прямокутник 18">
            <a:extLst>
              <a:ext uri="{FF2B5EF4-FFF2-40B4-BE49-F238E27FC236}">
                <a16:creationId xmlns:a16="http://schemas.microsoft.com/office/drawing/2014/main" id="{699486C2-CEC0-4F8B-AA1A-68AE62ABDA1A}"/>
              </a:ext>
            </a:extLst>
          </p:cNvPr>
          <p:cNvSpPr/>
          <p:nvPr/>
        </p:nvSpPr>
        <p:spPr>
          <a:xfrm>
            <a:off x="2232902" y="504996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Технологічний</a:t>
            </a:r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стек»:</a:t>
            </a: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Backbone: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YOLO Convolutional Layers.</a:t>
            </a:r>
          </a:p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Method: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Structural Semantic Segmentation.</a:t>
            </a:r>
          </a:p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en-US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oncept</a:t>
            </a: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Interpretable Grammar of Vision.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600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E3B43-1A91-EECF-27A1-5BD28909F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 of a traffic signal on a road&#10;&#10;AI-generated content may be incorrect.">
            <a:extLst>
              <a:ext uri="{FF2B5EF4-FFF2-40B4-BE49-F238E27FC236}">
                <a16:creationId xmlns:a16="http://schemas.microsoft.com/office/drawing/2014/main" id="{B5078116-A09E-64BB-DFF0-FD581A70D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84877"/>
            <a:ext cx="12192000" cy="6273123"/>
          </a:xfrm>
          <a:prstGeom prst="rect">
            <a:avLst/>
          </a:prstGeom>
        </p:spPr>
      </p:pic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53CF1405-B2AB-E302-6C77-162F0660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098" y="230965"/>
            <a:ext cx="523240" cy="541545"/>
          </a:xfrm>
        </p:spPr>
        <p:txBody>
          <a:bodyPr/>
          <a:lstStyle/>
          <a:p>
            <a:fld id="{294A09A9-5501-47C1-A89A-A340965A2BE2}" type="slidenum">
              <a:rPr lang="en-US" sz="3200" smtClean="0"/>
              <a:pPr/>
              <a:t>23</a:t>
            </a:fld>
            <a:endParaRPr lang="en-US" sz="3200" dirty="0">
              <a:latin typeface="+mn-lt"/>
            </a:endParaRPr>
          </a:p>
        </p:txBody>
      </p:sp>
      <p:sp>
        <p:nvSpPr>
          <p:cNvPr id="8" name="Прямокутник 6">
            <a:extLst>
              <a:ext uri="{FF2B5EF4-FFF2-40B4-BE49-F238E27FC236}">
                <a16:creationId xmlns:a16="http://schemas.microsoft.com/office/drawing/2014/main" id="{656DCD24-C191-EBD0-C20B-2517098633FC}"/>
              </a:ext>
            </a:extLst>
          </p:cNvPr>
          <p:cNvSpPr/>
          <p:nvPr/>
        </p:nvSpPr>
        <p:spPr>
          <a:xfrm>
            <a:off x="0" y="0"/>
            <a:ext cx="12191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z="2600" b="1" noProof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Пояснювальне навчання з підкріпленням (</a:t>
            </a:r>
            <a:r>
              <a:rPr lang="en-GB" sz="2600" b="1" noProof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XRL) </a:t>
            </a:r>
            <a:r>
              <a:rPr lang="uk-UA" sz="2600" b="1" noProof="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та екологічне управління</a:t>
            </a:r>
            <a:endParaRPr lang="uk-UA" sz="26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656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2D3BA-DFCD-1500-D413-9F89D67F5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номера слайда 1">
            <a:extLst>
              <a:ext uri="{FF2B5EF4-FFF2-40B4-BE49-F238E27FC236}">
                <a16:creationId xmlns:a16="http://schemas.microsoft.com/office/drawing/2014/main" id="{50B1379D-F61C-06B7-1D09-CCBCAA2A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6019" y="280131"/>
            <a:ext cx="523240" cy="535392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24</a:t>
            </a:fld>
            <a:endParaRPr lang="en-US" sz="3200" dirty="0">
              <a:latin typeface="+mn-lt"/>
            </a:endParaRPr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D15236A9-92AF-47C1-9E7C-806D05F13F80}"/>
              </a:ext>
            </a:extLst>
          </p:cNvPr>
          <p:cNvSpPr/>
          <p:nvPr/>
        </p:nvSpPr>
        <p:spPr>
          <a:xfrm>
            <a:off x="332741" y="25337"/>
            <a:ext cx="784956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Синтез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концепцій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Побудова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екосистеми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самопояснювальних</a:t>
            </a:r>
            <a:r>
              <a:rPr lang="ru-RU" sz="28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архітектур</a:t>
            </a:r>
            <a:endParaRPr lang="ru-RU" sz="2800" b="1" dirty="0"/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B008F77D-CD0A-4330-8627-88E3314D1E1F}"/>
              </a:ext>
            </a:extLst>
          </p:cNvPr>
          <p:cNvSpPr/>
          <p:nvPr/>
        </p:nvSpPr>
        <p:spPr>
          <a:xfrm>
            <a:off x="6026021" y="6054597"/>
            <a:ext cx="59593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Концептуальна </a:t>
            </a:r>
            <a:r>
              <a:rPr lang="ru-RU" sz="24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візія</a:t>
            </a:r>
            <a:r>
              <a:rPr lang="ru-RU" sz="24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4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наукових</a:t>
            </a:r>
            <a:r>
              <a:rPr lang="ru-RU" sz="24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4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груп</a:t>
            </a:r>
            <a:endParaRPr lang="ru-RU" sz="24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06E2246-0CF0-4BCC-877E-F1EEA0CD5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731" y="2561742"/>
            <a:ext cx="2174078" cy="217407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F5C7D3C-EF0C-414D-A3D5-E80430F2F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818" y="2561742"/>
            <a:ext cx="1103912" cy="110391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4F6414D-5B3B-4548-B63C-F9732D48C9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4689" y="2579234"/>
            <a:ext cx="1103472" cy="1103472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149B916-0699-4E83-B80C-77CA543DB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7115" y="4490468"/>
            <a:ext cx="1103472" cy="110347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A990E87-94C8-4458-B4A1-B34EDDB57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073" y="4551338"/>
            <a:ext cx="1103472" cy="1103472"/>
          </a:xfrm>
          <a:prstGeom prst="rect">
            <a:avLst/>
          </a:prstGeom>
        </p:spPr>
      </p:pic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FFFD399E-F619-41BE-8FD3-CDAE030B1345}"/>
              </a:ext>
            </a:extLst>
          </p:cNvPr>
          <p:cNvSpPr/>
          <p:nvPr/>
        </p:nvSpPr>
        <p:spPr>
          <a:xfrm>
            <a:off x="3180587" y="3288865"/>
            <a:ext cx="13623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«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Біла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скринька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»</a:t>
            </a:r>
            <a:endParaRPr lang="ru-RU" b="1" dirty="0"/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3311DF46-E5BC-48FE-BD89-6760BCCD7455}"/>
              </a:ext>
            </a:extLst>
          </p:cNvPr>
          <p:cNvSpPr/>
          <p:nvPr/>
        </p:nvSpPr>
        <p:spPr>
          <a:xfrm>
            <a:off x="1556463" y="2790532"/>
            <a:ext cx="13326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Етична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онтологія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ru-RU" b="1" dirty="0"/>
          </a:p>
        </p:txBody>
      </p:sp>
      <p:sp>
        <p:nvSpPr>
          <p:cNvPr id="19" name="Прямокутник 18">
            <a:extLst>
              <a:ext uri="{FF2B5EF4-FFF2-40B4-BE49-F238E27FC236}">
                <a16:creationId xmlns:a16="http://schemas.microsoft.com/office/drawing/2014/main" id="{F33B239F-04A0-457B-AC61-CEAB219E1C51}"/>
              </a:ext>
            </a:extLst>
          </p:cNvPr>
          <p:cNvSpPr/>
          <p:nvPr/>
        </p:nvSpPr>
        <p:spPr>
          <a:xfrm>
            <a:off x="4840615" y="2782670"/>
            <a:ext cx="1813066" cy="646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Математична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апроксимація</a:t>
            </a:r>
            <a:endParaRPr lang="ru-RU" b="1" dirty="0"/>
          </a:p>
        </p:txBody>
      </p:sp>
      <p:sp>
        <p:nvSpPr>
          <p:cNvPr id="20" name="Прямокутник 19">
            <a:extLst>
              <a:ext uri="{FF2B5EF4-FFF2-40B4-BE49-F238E27FC236}">
                <a16:creationId xmlns:a16="http://schemas.microsoft.com/office/drawing/2014/main" id="{013A31D2-F6FD-47AB-A285-752190E63232}"/>
              </a:ext>
            </a:extLst>
          </p:cNvPr>
          <p:cNvSpPr/>
          <p:nvPr/>
        </p:nvSpPr>
        <p:spPr>
          <a:xfrm>
            <a:off x="1722318" y="4719259"/>
            <a:ext cx="18130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Структурна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декомпозиція</a:t>
            </a:r>
            <a:endParaRPr lang="ru-RU" b="1" dirty="0"/>
          </a:p>
        </p:txBody>
      </p:sp>
      <p:sp>
        <p:nvSpPr>
          <p:cNvPr id="21" name="Прямокутник 20">
            <a:extLst>
              <a:ext uri="{FF2B5EF4-FFF2-40B4-BE49-F238E27FC236}">
                <a16:creationId xmlns:a16="http://schemas.microsoft.com/office/drawing/2014/main" id="{62D23C29-8DA8-4A34-934B-2C329B0B8B33}"/>
              </a:ext>
            </a:extLst>
          </p:cNvPr>
          <p:cNvSpPr/>
          <p:nvPr/>
        </p:nvSpPr>
        <p:spPr>
          <a:xfrm>
            <a:off x="4167971" y="4816612"/>
            <a:ext cx="18130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Мотиваційна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прозорість</a:t>
            </a:r>
            <a:endParaRPr lang="ru-RU" b="1" dirty="0"/>
          </a:p>
        </p:txBody>
      </p:sp>
      <p:sp>
        <p:nvSpPr>
          <p:cNvPr id="22" name="Стрілка: униз 21">
            <a:extLst>
              <a:ext uri="{FF2B5EF4-FFF2-40B4-BE49-F238E27FC236}">
                <a16:creationId xmlns:a16="http://schemas.microsoft.com/office/drawing/2014/main" id="{609BC478-DB2D-4B11-94F5-F5CEC7280D75}"/>
              </a:ext>
            </a:extLst>
          </p:cNvPr>
          <p:cNvSpPr/>
          <p:nvPr/>
        </p:nvSpPr>
        <p:spPr>
          <a:xfrm>
            <a:off x="3509727" y="1953528"/>
            <a:ext cx="681183" cy="5612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кутник 22">
            <a:extLst>
              <a:ext uri="{FF2B5EF4-FFF2-40B4-BE49-F238E27FC236}">
                <a16:creationId xmlns:a16="http://schemas.microsoft.com/office/drawing/2014/main" id="{01C096C2-20E7-42F4-BF9F-F5874F300F39}"/>
              </a:ext>
            </a:extLst>
          </p:cNvPr>
          <p:cNvSpPr/>
          <p:nvPr/>
        </p:nvSpPr>
        <p:spPr>
          <a:xfrm>
            <a:off x="1209521" y="1214864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Від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«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Post-hoc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пояснень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» (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зовнішній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аналіз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 </a:t>
            </a:r>
            <a:r>
              <a:rPr lang="ru-RU" sz="2400" b="1" dirty="0">
                <a:solidFill>
                  <a:srgbClr val="1A1C1E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→</a:t>
            </a:r>
            <a:r>
              <a:rPr lang="en-US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до «</a:t>
            </a:r>
            <a:r>
              <a:rPr lang="en-US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Intrinsic Interpretability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» (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вбудована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прозорість</a:t>
            </a:r>
            <a:r>
              <a:rPr lang="ru-RU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).</a:t>
            </a:r>
            <a:endParaRPr lang="ru-RU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F7CC8F-BDEE-41B0-9131-2E7691D6BECE}"/>
              </a:ext>
            </a:extLst>
          </p:cNvPr>
          <p:cNvSpPr txBox="1"/>
          <p:nvPr/>
        </p:nvSpPr>
        <p:spPr>
          <a:xfrm>
            <a:off x="7014693" y="2798471"/>
            <a:ext cx="49079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- </a:t>
            </a:r>
            <a:r>
              <a:rPr lang="ru-RU" sz="2400" b="1" dirty="0" err="1">
                <a:solidFill>
                  <a:srgbClr val="C00000"/>
                </a:solidFill>
              </a:rPr>
              <a:t>Самодокументовані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b="1" dirty="0" err="1">
                <a:solidFill>
                  <a:srgbClr val="C00000"/>
                </a:solidFill>
              </a:rPr>
              <a:t>нейромережі</a:t>
            </a:r>
            <a:r>
              <a:rPr lang="ru-RU" sz="2400" b="1" dirty="0">
                <a:solidFill>
                  <a:srgbClr val="C00000"/>
                </a:solidFill>
              </a:rPr>
              <a:t>.</a:t>
            </a:r>
          </a:p>
          <a:p>
            <a:pPr algn="ctr"/>
            <a:endParaRPr lang="ru-RU" sz="2400" b="1" dirty="0">
              <a:solidFill>
                <a:srgbClr val="C00000"/>
              </a:solidFill>
            </a:endParaRPr>
          </a:p>
          <a:p>
            <a:pPr algn="ctr"/>
            <a:r>
              <a:rPr lang="ru-RU" sz="2400" b="1" dirty="0">
                <a:solidFill>
                  <a:srgbClr val="C00000"/>
                </a:solidFill>
              </a:rPr>
              <a:t>- </a:t>
            </a:r>
            <a:r>
              <a:rPr lang="ru-RU" sz="2400" b="1" dirty="0" err="1">
                <a:solidFill>
                  <a:srgbClr val="C00000"/>
                </a:solidFill>
              </a:rPr>
              <a:t>Дистиляція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b="1" dirty="0" err="1">
                <a:solidFill>
                  <a:srgbClr val="C00000"/>
                </a:solidFill>
              </a:rPr>
              <a:t>знань</a:t>
            </a:r>
            <a:r>
              <a:rPr lang="ru-RU" sz="2400" b="1" dirty="0">
                <a:solidFill>
                  <a:srgbClr val="C00000"/>
                </a:solidFill>
              </a:rPr>
              <a:t> у «ментально-</a:t>
            </a:r>
            <a:r>
              <a:rPr lang="ru-RU" sz="2400" b="1" dirty="0" err="1">
                <a:solidFill>
                  <a:srgbClr val="C00000"/>
                </a:solidFill>
              </a:rPr>
              <a:t>коректні</a:t>
            </a:r>
            <a:r>
              <a:rPr lang="ru-RU" sz="2400" b="1" dirty="0">
                <a:solidFill>
                  <a:srgbClr val="C00000"/>
                </a:solidFill>
              </a:rPr>
              <a:t>» </a:t>
            </a:r>
            <a:r>
              <a:rPr lang="ru-RU" sz="2400" b="1" dirty="0" err="1">
                <a:solidFill>
                  <a:srgbClr val="C00000"/>
                </a:solidFill>
              </a:rPr>
              <a:t>топології</a:t>
            </a:r>
            <a:r>
              <a:rPr lang="ru-RU" sz="2400" b="1" dirty="0">
                <a:solidFill>
                  <a:srgbClr val="C00000"/>
                </a:solidFill>
              </a:rPr>
              <a:t>.</a:t>
            </a:r>
          </a:p>
          <a:p>
            <a:pPr algn="ctr"/>
            <a:endParaRPr lang="ru-RU" sz="2400" b="1" dirty="0">
              <a:solidFill>
                <a:srgbClr val="C00000"/>
              </a:solidFill>
            </a:endParaRPr>
          </a:p>
          <a:p>
            <a:pPr algn="ctr"/>
            <a:r>
              <a:rPr lang="ru-RU" sz="2400" b="1" dirty="0">
                <a:solidFill>
                  <a:srgbClr val="C00000"/>
                </a:solidFill>
              </a:rPr>
              <a:t>- </a:t>
            </a:r>
            <a:r>
              <a:rPr lang="ru-RU" sz="2400" b="1" dirty="0" err="1">
                <a:solidFill>
                  <a:srgbClr val="C00000"/>
                </a:solidFill>
              </a:rPr>
              <a:t>Гармонійний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b="1" dirty="0" err="1">
                <a:solidFill>
                  <a:srgbClr val="C00000"/>
                </a:solidFill>
              </a:rPr>
              <a:t>когнітивний</a:t>
            </a:r>
            <a:r>
              <a:rPr lang="ru-RU" sz="2400" b="1" dirty="0">
                <a:solidFill>
                  <a:srgbClr val="C00000"/>
                </a:solidFill>
              </a:rPr>
              <a:t> резонанс </a:t>
            </a:r>
            <a:r>
              <a:rPr lang="ru-RU" sz="2400" b="1" dirty="0" err="1">
                <a:solidFill>
                  <a:srgbClr val="C00000"/>
                </a:solidFill>
              </a:rPr>
              <a:t>людини</a:t>
            </a:r>
            <a:r>
              <a:rPr lang="ru-RU" sz="2400" b="1" dirty="0">
                <a:solidFill>
                  <a:srgbClr val="C00000"/>
                </a:solidFill>
              </a:rPr>
              <a:t> та </a:t>
            </a:r>
            <a:r>
              <a:rPr lang="ru-RU" sz="2400" b="1" dirty="0" err="1">
                <a:solidFill>
                  <a:srgbClr val="C00000"/>
                </a:solidFill>
              </a:rPr>
              <a:t>машини</a:t>
            </a:r>
            <a:r>
              <a:rPr lang="ru-RU" sz="2400" b="1" dirty="0">
                <a:solidFill>
                  <a:srgbClr val="C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5069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F1F3613-D79A-4F74-97C4-A3D5AF50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25</a:t>
            </a:fld>
            <a:endParaRPr lang="en-US" dirty="0">
              <a:latin typeface="+mn-lt"/>
            </a:endParaRPr>
          </a:p>
        </p:txBody>
      </p:sp>
      <p:sp>
        <p:nvSpPr>
          <p:cNvPr id="6" name="Місце для номера слайда 1">
            <a:extLst>
              <a:ext uri="{FF2B5EF4-FFF2-40B4-BE49-F238E27FC236}">
                <a16:creationId xmlns:a16="http://schemas.microsoft.com/office/drawing/2014/main" id="{0407D01E-E667-4509-B61B-272D264FE248}"/>
              </a:ext>
            </a:extLst>
          </p:cNvPr>
          <p:cNvSpPr txBox="1">
            <a:spLocks/>
          </p:cNvSpPr>
          <p:nvPr/>
        </p:nvSpPr>
        <p:spPr>
          <a:xfrm>
            <a:off x="11501211" y="51804"/>
            <a:ext cx="523240" cy="53539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z="3200" smtClean="0"/>
              <a:pPr algn="ctr"/>
              <a:t>25</a:t>
            </a:fld>
            <a:endParaRPr lang="en-US" sz="3200" dirty="0"/>
          </a:p>
        </p:txBody>
      </p:sp>
      <p:sp>
        <p:nvSpPr>
          <p:cNvPr id="4" name="Місце для номера слайда 1">
            <a:extLst>
              <a:ext uri="{FF2B5EF4-FFF2-40B4-BE49-F238E27FC236}">
                <a16:creationId xmlns:a16="http://schemas.microsoft.com/office/drawing/2014/main" id="{395B7887-2585-4ED4-9529-4952285F4451}"/>
              </a:ext>
            </a:extLst>
          </p:cNvPr>
          <p:cNvSpPr txBox="1">
            <a:spLocks/>
          </p:cNvSpPr>
          <p:nvPr/>
        </p:nvSpPr>
        <p:spPr>
          <a:xfrm>
            <a:off x="11004331" y="280131"/>
            <a:ext cx="854928" cy="535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0BF1A4CE-3C8A-46BC-BB35-D9A7DFB410D2}"/>
              </a:ext>
            </a:extLst>
          </p:cNvPr>
          <p:cNvSpPr/>
          <p:nvPr/>
        </p:nvSpPr>
        <p:spPr>
          <a:xfrm>
            <a:off x="323465" y="48587"/>
            <a:ext cx="1085428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ВИСНОВКИ: </a:t>
            </a:r>
          </a:p>
          <a:p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Людино-</a:t>
            </a:r>
            <a:r>
              <a:rPr lang="ru-RU" sz="32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центрований</a:t>
            </a:r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ШІ як нова парадигма </a:t>
            </a:r>
            <a:r>
              <a:rPr lang="ru-RU" sz="32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безпеки</a:t>
            </a:r>
            <a:endParaRPr lang="ru-RU" sz="3200" b="1" dirty="0"/>
          </a:p>
        </p:txBody>
      </p:sp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A4D9C3D9-4A66-44DE-A37A-1E96B5D15DCB}"/>
              </a:ext>
            </a:extLst>
          </p:cNvPr>
          <p:cNvSpPr/>
          <p:nvPr/>
        </p:nvSpPr>
        <p:spPr>
          <a:xfrm>
            <a:off x="774266" y="5783999"/>
            <a:ext cx="1098856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1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Пояснюваність</a:t>
            </a:r>
            <a:r>
              <a:rPr lang="ru-RU" sz="21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(XAI) – це не </a:t>
            </a:r>
            <a:r>
              <a:rPr lang="ru-RU" sz="21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втрата</a:t>
            </a:r>
            <a:r>
              <a:rPr lang="ru-RU" sz="21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1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точності</a:t>
            </a:r>
            <a:r>
              <a:rPr lang="ru-RU" sz="21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, а </a:t>
            </a:r>
            <a:r>
              <a:rPr lang="ru-RU" sz="21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здобуття</a:t>
            </a:r>
            <a:r>
              <a:rPr lang="ru-RU" sz="21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100" b="1" i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безпеки</a:t>
            </a:r>
            <a:r>
              <a:rPr lang="ru-RU" sz="2100" b="1" i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та довіри.</a:t>
            </a:r>
            <a:endParaRPr lang="ru-RU" sz="2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EE0FB1-D5D1-42A5-9455-428EB5FEE589}"/>
              </a:ext>
            </a:extLst>
          </p:cNvPr>
          <p:cNvSpPr txBox="1"/>
          <p:nvPr/>
        </p:nvSpPr>
        <p:spPr>
          <a:xfrm>
            <a:off x="323465" y="1183910"/>
            <a:ext cx="3184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b="1" dirty="0">
                <a:solidFill>
                  <a:schemeClr val="bg1"/>
                </a:solidFill>
              </a:rPr>
              <a:t>Отримані результати: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BA125-CC8C-4F8F-ACEB-5508A4CC691C}"/>
              </a:ext>
            </a:extLst>
          </p:cNvPr>
          <p:cNvSpPr txBox="1"/>
          <p:nvPr/>
        </p:nvSpPr>
        <p:spPr>
          <a:xfrm>
            <a:off x="323465" y="1857352"/>
            <a:ext cx="3473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1. ТЕОРЕТИКО-ЕТИЧНИЙ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A9497-D968-4F18-9C60-78FFE8E15B5D}"/>
              </a:ext>
            </a:extLst>
          </p:cNvPr>
          <p:cNvSpPr txBox="1"/>
          <p:nvPr/>
        </p:nvSpPr>
        <p:spPr>
          <a:xfrm>
            <a:off x="4581112" y="1733337"/>
            <a:ext cx="3029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2. МАТЕМАТИЧНО-АРХІТЕКТУРНИЙ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F31EB6-6C17-4202-AADD-BB059D2AD680}"/>
              </a:ext>
            </a:extLst>
          </p:cNvPr>
          <p:cNvSpPr txBox="1"/>
          <p:nvPr/>
        </p:nvSpPr>
        <p:spPr>
          <a:xfrm>
            <a:off x="7664666" y="1880334"/>
            <a:ext cx="4270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</a:rPr>
              <a:t>3. ПРАКТИЧНО-ВАЛІДАЦІЙНИЙ</a:t>
            </a:r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60A957EE-D004-4640-AFBC-CA88FB8ACBF7}"/>
              </a:ext>
            </a:extLst>
          </p:cNvPr>
          <p:cNvSpPr/>
          <p:nvPr/>
        </p:nvSpPr>
        <p:spPr>
          <a:xfrm>
            <a:off x="774266" y="3358558"/>
            <a:ext cx="24384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Сформовано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онтологію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довіри та систему «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етичних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фільтрів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».</a:t>
            </a:r>
            <a:endParaRPr lang="ru-RU" sz="2000" b="1" dirty="0"/>
          </a:p>
        </p:txBody>
      </p:sp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1CAC2FD4-6016-4BFC-A4F5-0211CD7F82CB}"/>
              </a:ext>
            </a:extLst>
          </p:cNvPr>
          <p:cNvSpPr/>
          <p:nvPr/>
        </p:nvSpPr>
        <p:spPr>
          <a:xfrm>
            <a:off x="4056993" y="3429000"/>
            <a:ext cx="355389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Розроблено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методи апроксимації (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матриці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переходу) та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декомпозиції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формальних моделей у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ментальні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ru-RU" sz="2000" b="1" dirty="0"/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56E0025A-5F4D-4589-8E8A-56EBC830EDB5}"/>
              </a:ext>
            </a:extLst>
          </p:cNvPr>
          <p:cNvSpPr/>
          <p:nvPr/>
        </p:nvSpPr>
        <p:spPr>
          <a:xfrm>
            <a:off x="8276059" y="3204670"/>
            <a:ext cx="3048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Підтверджена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ефективність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у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критичних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доменах (Медицина, БПЛА,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Екологія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). </a:t>
            </a:r>
          </a:p>
          <a:p>
            <a:pPr algn="ctr"/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Публікації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рівня</a:t>
            </a:r>
            <a:r>
              <a:rPr lang="ru-RU" sz="20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Q1.</a:t>
            </a:r>
            <a:endParaRPr lang="ru-RU" sz="2000" b="1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3CD2079-EDE3-492D-A101-6254A420D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2407165"/>
            <a:ext cx="589945" cy="83099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702DAC3-EBA5-4F24-BDF1-13EAEC76B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383" y="2278494"/>
            <a:ext cx="930680" cy="93068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2C691C6-B9B8-430C-8DB9-1D2DED380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398" y="2743834"/>
            <a:ext cx="1329151" cy="42803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1D37349-4DD5-4B5E-AE57-702B15540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040" y="2550379"/>
            <a:ext cx="745898" cy="74589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C72B720-A28A-4CCC-9BB8-C44FD0DE94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6059" y="2513001"/>
            <a:ext cx="1115104" cy="46166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59F0B51-9699-4CA6-868E-3487033F20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1372" y="2469319"/>
            <a:ext cx="1922407" cy="461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36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E078-DFFE-2921-FB66-26E4A995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DE9A09E-C2A8-50C4-8D83-263235E6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26</a:t>
            </a:fld>
            <a:endParaRPr lang="en-US" dirty="0">
              <a:latin typeface="+mn-lt"/>
            </a:endParaRPr>
          </a:p>
        </p:txBody>
      </p:sp>
      <p:sp>
        <p:nvSpPr>
          <p:cNvPr id="6" name="Місце для номера слайда 1">
            <a:extLst>
              <a:ext uri="{FF2B5EF4-FFF2-40B4-BE49-F238E27FC236}">
                <a16:creationId xmlns:a16="http://schemas.microsoft.com/office/drawing/2014/main" id="{B305BF38-DF27-1570-9D78-BF5EDDD86D98}"/>
              </a:ext>
            </a:extLst>
          </p:cNvPr>
          <p:cNvSpPr txBox="1">
            <a:spLocks/>
          </p:cNvSpPr>
          <p:nvPr/>
        </p:nvSpPr>
        <p:spPr>
          <a:xfrm>
            <a:off x="11501211" y="51804"/>
            <a:ext cx="523240" cy="53539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400" rtl="0" eaLnBrk="1" latinLnBrk="0" hangingPunct="1">
              <a:defRPr sz="1100" b="1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4A09A9-5501-47C1-A89A-A340965A2BE2}" type="slidenum">
              <a:rPr lang="en-US" sz="3200" smtClean="0"/>
              <a:pPr algn="ctr"/>
              <a:t>26</a:t>
            </a:fld>
            <a:endParaRPr lang="en-US" sz="3200" dirty="0"/>
          </a:p>
        </p:txBody>
      </p:sp>
      <p:sp>
        <p:nvSpPr>
          <p:cNvPr id="4" name="Місце для номера слайда 1">
            <a:extLst>
              <a:ext uri="{FF2B5EF4-FFF2-40B4-BE49-F238E27FC236}">
                <a16:creationId xmlns:a16="http://schemas.microsoft.com/office/drawing/2014/main" id="{72ABD9F5-CC87-9F7E-2628-08F708348D3E}"/>
              </a:ext>
            </a:extLst>
          </p:cNvPr>
          <p:cNvSpPr txBox="1">
            <a:spLocks/>
          </p:cNvSpPr>
          <p:nvPr/>
        </p:nvSpPr>
        <p:spPr>
          <a:xfrm>
            <a:off x="11004331" y="280131"/>
            <a:ext cx="854928" cy="535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6D638FB5-E899-4156-E508-BB7F6C9592E2}"/>
              </a:ext>
            </a:extLst>
          </p:cNvPr>
          <p:cNvSpPr/>
          <p:nvPr/>
        </p:nvSpPr>
        <p:spPr>
          <a:xfrm>
            <a:off x="323465" y="48587"/>
            <a:ext cx="1085428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1A1C1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НАС ВИВЧАЮТЬ І ЦИТУЮТЬ: 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D3A1432-940E-A3EC-A449-15777E069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52" y="1693291"/>
            <a:ext cx="2105025" cy="58102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136AC40-755D-F39D-41CE-B5207319B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306" y="1628169"/>
            <a:ext cx="6677025" cy="8001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B44F106-E01B-9AB7-895D-DC02CAFF0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2721" y="2230398"/>
            <a:ext cx="4362450" cy="1905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A788964-742D-6F30-FCF8-888E5129AE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994" y="2563086"/>
            <a:ext cx="5133975" cy="70485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736998F-268A-F9D6-4390-7D28F1904C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2625" y="2551323"/>
            <a:ext cx="6429375" cy="66675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8929CED4-FCC1-68F0-9810-E5866DFCA2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946" y="3488198"/>
            <a:ext cx="5057775" cy="900094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2651344-3AEA-569F-32F2-9AC82074E9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1001" y="3273935"/>
            <a:ext cx="6168817" cy="173599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13ECD82-7BF5-868F-75E8-680D608175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61" y="4564050"/>
            <a:ext cx="5673547" cy="3429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89C48B3-A408-D458-3E29-054415290B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182" y="4962812"/>
            <a:ext cx="2209800" cy="6096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55B826FF-1E76-4AD9-0BCC-E6F6B2B7BA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95087" y="4962812"/>
            <a:ext cx="6486525" cy="54292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ED9B221B-32D4-57A9-594E-C6382E1C9C5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95087" y="5443370"/>
            <a:ext cx="2781300" cy="23812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78A3952-8EFD-BA57-6DF5-9F7E8732471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3752" y="5544569"/>
            <a:ext cx="5086350" cy="714375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80E73174-3D09-672A-40FC-0ACE5E6D55A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465" y="5901757"/>
            <a:ext cx="5076825" cy="70485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2D0E142-1BF7-2BA1-6DA5-9D137C1AA17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7726" y="514657"/>
            <a:ext cx="11431533" cy="106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083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875D8221-573B-4FD0-8527-A044049A82F4}"/>
              </a:ext>
            </a:extLst>
          </p:cNvPr>
          <p:cNvSpPr/>
          <p:nvPr/>
        </p:nvSpPr>
        <p:spPr>
          <a:xfrm>
            <a:off x="332741" y="625609"/>
            <a:ext cx="1171211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Сергієнко І.В., Крак Ю.В., Бармак О.В, Манзюк Е.А., Куляс А.І. Інтелектуальні інформаційні технології: людиноцентрований підхід, принципи етики та довіри. Монографія. – К: </a:t>
            </a:r>
            <a:r>
              <a:rPr lang="ru-RU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Наукова</a:t>
            </a:r>
            <a:r>
              <a:rPr lang="ru-RU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думка, 2023. – 310 с.</a:t>
            </a:r>
            <a:endParaRPr lang="uk-UA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Pavlyshyn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V.,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Manziuk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E.,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O.,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Radiuk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P.,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Krak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I. An Adaptive Machine Learning Approach to Sustainable Traffic Planning: High-Fidelity Pattern Recognition in Smart Transportation Systems. </a:t>
            </a:r>
            <a:r>
              <a:rPr lang="en-US" sz="1600" i="1" dirty="0">
                <a:solidFill>
                  <a:srgbClr val="272626"/>
                </a:solidFill>
                <a:latin typeface="Arial" panose="020B0604020202020204" pitchFamily="34" charset="0"/>
              </a:rPr>
              <a:t>Future Transportation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. 2025, 5, 152.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3"/>
              </a:rPr>
              <a:t>https://doi.org/10.3390/futuretransp5040152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 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Q2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Vozniak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V.,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O.,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Krak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I. Method for Matching Satellite and UAV Images for Visual Place Recognition with Cross-View Color Normalization. </a:t>
            </a:r>
            <a:r>
              <a:rPr lang="en-US" sz="1600" i="1" dirty="0" err="1">
                <a:solidFill>
                  <a:srgbClr val="272626"/>
                </a:solidFill>
                <a:latin typeface="Arial" panose="020B0604020202020204" pitchFamily="34" charset="0"/>
              </a:rPr>
              <a:t>Radioelectronic</a:t>
            </a:r>
            <a:r>
              <a:rPr lang="en-US" sz="1600" i="1" dirty="0">
                <a:solidFill>
                  <a:srgbClr val="272626"/>
                </a:solidFill>
                <a:latin typeface="Arial" panose="020B0604020202020204" pitchFamily="34" charset="0"/>
              </a:rPr>
              <a:t> and Computer Systems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. 2025, 3(115).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4"/>
              </a:rPr>
              <a:t>https://doi.org/10.32620/reks.2025.3.11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 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Q2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D.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Borovyk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, O.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, P.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Radiuk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, and I.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Krak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, “Hierarchical deep learning model for identifying similar targets in UAV imagery,” Drones,  2025, vol. 9, no. 11, p. 743,.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5"/>
              </a:rPr>
              <a:t>https://doi.org/10.3390/drones9110743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 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Ostrovskyi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Z,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O,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Radiuk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P,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Krak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I. Unsupervised Knowledge Extraction of Distinctive Landmarks from Earth Imagery Using Deep Feature Outliers for Robust UAV Geo-Localization. </a:t>
            </a:r>
            <a:r>
              <a:rPr lang="en-US" sz="1600" i="1" dirty="0">
                <a:solidFill>
                  <a:srgbClr val="272626"/>
                </a:solidFill>
                <a:latin typeface="Arial" panose="020B0604020202020204" pitchFamily="34" charset="0"/>
              </a:rPr>
              <a:t>Machine Learning and Knowledge Extraction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. 2025; 7(3):81.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6"/>
              </a:rPr>
              <a:t>https://doi.org/10.3390/make7030081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  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Towards transparent AI in medicine: ECG-based arrhythmia detection with explainable deep learning / O.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Kovalchuck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et a. Technologies. 2025. Vol. 13, no. 1. P. 34. URL: </a:t>
            </a:r>
            <a:r>
              <a:rPr lang="en-US" sz="1600" dirty="0">
                <a:solidFill>
                  <a:srgbClr val="82BE1E"/>
                </a:solidFill>
                <a:latin typeface="Arial" panose="020B0604020202020204" pitchFamily="34" charset="0"/>
                <a:hlinkClick r:id="rId7"/>
              </a:rPr>
              <a:t>https://doi.org/10.3390/technologies13010034 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Toward explainable deep learning in healthcare through transition matrix and user-friendly features / O.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et a. Frontiers in Artificial Intelligence. 2024. Vol. 7. P. 1482141. URL: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8"/>
              </a:rPr>
              <a:t>https://doi.org/10.3389/frai.2024.1482141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 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Q2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Radiuk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P,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O,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Manziuk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E,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Krak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I. Explainable Deep Learning: A Visual Analytics Approach with Transition Matrices. </a:t>
            </a:r>
            <a:r>
              <a:rPr lang="en-US" sz="1600" i="1" dirty="0">
                <a:solidFill>
                  <a:srgbClr val="272626"/>
                </a:solidFill>
                <a:latin typeface="Arial" panose="020B0604020202020204" pitchFamily="34" charset="0"/>
              </a:rPr>
              <a:t>Mathematics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. 2024; 12(7):1024.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9"/>
              </a:rPr>
              <a:t>https://doi.org/10.3390/math12071024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,  Open Access: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10"/>
              </a:rPr>
              <a:t>https://www.mdpi.com/2227-7390/12/7/1024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  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Крак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Ю.В.,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Бармак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О.В. Методика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інверсного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багатовимірного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шкалювання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для синтезу моделей машинного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навчання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//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Кібернетика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та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системний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 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аналіз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, 2023, (5), сс.46-54 (</a:t>
            </a:r>
            <a:r>
              <a:rPr lang="ru-RU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категорія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 </a:t>
            </a:r>
            <a:r>
              <a:rPr lang="ru-RU" sz="1600" b="1" dirty="0">
                <a:solidFill>
                  <a:srgbClr val="272626"/>
                </a:solidFill>
                <a:latin typeface="Arial" panose="020B0604020202020204" pitchFamily="34" charset="0"/>
              </a:rPr>
              <a:t>А</a:t>
            </a:r>
            <a:r>
              <a:rPr lang="ru-RU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Krak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I.,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Barmak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O., </a:t>
            </a:r>
            <a:r>
              <a:rPr lang="en-US" sz="1600" dirty="0" err="1">
                <a:solidFill>
                  <a:srgbClr val="272626"/>
                </a:solidFill>
                <a:latin typeface="Arial" panose="020B0604020202020204" pitchFamily="34" charset="0"/>
              </a:rPr>
              <a:t>Manziuk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 E. Using visual analytics to develop human and machine-centric models: A review of approaches and proposed information technology // Computational Intelligence, 2022, 38(3), pp. 921–946. DOI: </a:t>
            </a:r>
            <a:r>
              <a:rPr lang="en-US" sz="1600" dirty="0">
                <a:solidFill>
                  <a:srgbClr val="0069B4"/>
                </a:solidFill>
                <a:latin typeface="Arial" panose="020B0604020202020204" pitchFamily="34" charset="0"/>
                <a:hlinkClick r:id="rId11"/>
              </a:rPr>
              <a:t>https://doi.org/10.1111/coin.12289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  (</a:t>
            </a:r>
            <a:r>
              <a:rPr lang="en-US" sz="1600" b="1" dirty="0">
                <a:solidFill>
                  <a:srgbClr val="272626"/>
                </a:solidFill>
                <a:latin typeface="Arial" panose="020B0604020202020204" pitchFamily="34" charset="0"/>
              </a:rPr>
              <a:t>Q1</a:t>
            </a:r>
            <a:r>
              <a:rPr lang="en-US" sz="1600" dirty="0">
                <a:solidFill>
                  <a:srgbClr val="272626"/>
                </a:solidFill>
                <a:latin typeface="Arial" panose="020B0604020202020204" pitchFamily="34" charset="0"/>
              </a:rPr>
              <a:t>)</a:t>
            </a:r>
            <a:endParaRPr lang="en-US" sz="1600" b="0" i="0" dirty="0">
              <a:solidFill>
                <a:srgbClr val="27262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Місце для номера слайда 1">
            <a:extLst>
              <a:ext uri="{FF2B5EF4-FFF2-40B4-BE49-F238E27FC236}">
                <a16:creationId xmlns:a16="http://schemas.microsoft.com/office/drawing/2014/main" id="{54592797-EB77-4026-8AC6-BF47173A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1615" y="65525"/>
            <a:ext cx="523240" cy="535392"/>
          </a:xfrm>
        </p:spPr>
        <p:txBody>
          <a:bodyPr/>
          <a:lstStyle/>
          <a:p>
            <a:pPr algn="ctr"/>
            <a:fld id="{294A09A9-5501-47C1-A89A-A340965A2BE2}" type="slidenum">
              <a:rPr lang="en-US" sz="3200" smtClean="0"/>
              <a:pPr algn="ctr"/>
              <a:t>27</a:t>
            </a:fld>
            <a:endParaRPr lang="en-US" sz="32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0D5698-65BB-47CE-82C0-FE8B28D6C1B0}"/>
              </a:ext>
            </a:extLst>
          </p:cNvPr>
          <p:cNvSpPr txBox="1"/>
          <p:nvPr/>
        </p:nvSpPr>
        <p:spPr>
          <a:xfrm>
            <a:off x="4745421" y="40834"/>
            <a:ext cx="3074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b="1">
                <a:solidFill>
                  <a:schemeClr val="bg1"/>
                </a:solidFill>
              </a:rPr>
              <a:t>Дякую за </a:t>
            </a:r>
            <a:r>
              <a:rPr lang="uk-UA" sz="3200" b="1" dirty="0">
                <a:solidFill>
                  <a:schemeClr val="bg1"/>
                </a:solidFill>
              </a:rPr>
              <a:t>увагу!</a:t>
            </a:r>
            <a:endParaRPr lang="ru-RU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304919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Mask layout bar"/>
          <p:cNvSpPr/>
          <p:nvPr/>
        </p:nvSpPr>
        <p:spPr>
          <a:xfrm>
            <a:off x="530352" y="2048256"/>
            <a:ext cx="22402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8EA0B3E-586A-43E2-A0F5-990680D6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098" y="230965"/>
            <a:ext cx="523240" cy="541545"/>
          </a:xfrm>
        </p:spPr>
        <p:txBody>
          <a:bodyPr/>
          <a:lstStyle/>
          <a:p>
            <a:fld id="{294A09A9-5501-47C1-A89A-A340965A2BE2}" type="slidenum">
              <a:rPr lang="en-US" sz="3200" smtClean="0"/>
              <a:pPr/>
              <a:t>15</a:t>
            </a:fld>
            <a:endParaRPr lang="en-US" sz="3200" dirty="0">
              <a:latin typeface="+mn-lt"/>
            </a:endParaRPr>
          </a:p>
        </p:txBody>
      </p:sp>
      <p:sp>
        <p:nvSpPr>
          <p:cNvPr id="7" name="Title"/>
          <p:cNvSpPr txBox="1"/>
          <p:nvPr/>
        </p:nvSpPr>
        <p:spPr>
          <a:xfrm>
            <a:off x="201168" y="36576"/>
            <a:ext cx="969264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Методологія XAI: матриці переходу → продукційні правила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219456" y="484632"/>
            <a:ext cx="996696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50" b="0" i="1">
                <a:solidFill>
                  <a:srgbClr val="404040"/>
                </a:solidFill>
                <a:latin typeface="Arial"/>
                <a:ea typeface="Arial"/>
                <a:cs typeface="Arial"/>
              </a:rPr>
              <a:t>SEMTRA: від прихованих ознак нейромережі до перевірюваних правил «ЯКЩО – ТО»</a:t>
            </a:r>
          </a:p>
        </p:txBody>
      </p:sp>
      <p:sp>
        <p:nvSpPr>
          <p:cNvPr id="9" name="Panel: formalism"/>
          <p:cNvSpPr/>
          <p:nvPr/>
        </p:nvSpPr>
        <p:spPr>
          <a:xfrm>
            <a:off x="228600" y="896112"/>
            <a:ext cx="6858000" cy="5029200"/>
          </a:xfrm>
          <a:prstGeom prst="roundRect">
            <a:avLst>
              <a:gd name="adj" fmla="val 2181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Panel: formalism title"/>
          <p:cNvSpPr txBox="1"/>
          <p:nvPr/>
        </p:nvSpPr>
        <p:spPr>
          <a:xfrm>
            <a:off x="338328" y="950976"/>
            <a:ext cx="663854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Формалізація методу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Рівняння 11"/>
              <p:cNvSpPr txBox="1"/>
              <p:nvPr/>
            </p:nvSpPr>
            <p:spPr>
              <a:xfrm>
                <a:off x="2103120" y="1298448"/>
                <a:ext cx="3454603" cy="23774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−</m:t>
                      </m:r>
                      <m:r>
                        <m:rPr>
                          <m:sty m:val="b"/>
                        </m:rPr>
                        <a:rPr lang="uk-UA" sz="1200" b="1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1</m:t>
                      </m:r>
                      <m:sSup>
                        <m:e>
                          <m:acc>
                            <m:accPr>
                              <m:chr m:val="‾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a:rPr lang="uk-UA" sz="1200" b="1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acc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sSub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p>
                      </m:sSup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11" name="Рівняння 11"/>
              <p:cNvSpPr txBox="1"/>
              <p:nvPr/>
            </p:nvSpPr>
            <p:spPr>
              <a:xfrm>
                <a:off x="2103120" y="1325880"/>
                <a:ext cx="3090672" cy="1828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347472" y="1280160"/>
            <a:ext cx="274320" cy="274320"/>
          </a:xfrm>
          <a:prstGeom prst="ellipse">
            <a:avLst/>
          </a:prstGeom>
          <a:solidFill>
            <a:srgbClr val="7C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1197863"/>
            <a:ext cx="137160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Центрування і стиснення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Рівняння 14"/>
              <p:cNvSpPr txBox="1"/>
              <p:nvPr/>
            </p:nvSpPr>
            <p:spPr>
              <a:xfrm>
                <a:off x="2103120" y="1600200"/>
                <a:ext cx="2841040" cy="3493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arg min</m:t>
                          </m:r>
                        </m:e>
                        <m:lim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</m:lim>
                      </m:limLow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∥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Z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B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</m:sub>
                        <m:sup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α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∥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</m:sub>
                        <m:sup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14" name="Рівняння 14"/>
              <p:cNvSpPr txBox="1"/>
              <p:nvPr/>
            </p:nvSpPr>
            <p:spPr>
              <a:xfrm>
                <a:off x="2103120" y="1627632"/>
                <a:ext cx="2532887" cy="2944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Рівняння 15"/>
              <p:cNvSpPr txBox="1"/>
              <p:nvPr/>
            </p:nvSpPr>
            <p:spPr>
              <a:xfrm>
                <a:off x="2103120" y="1949500"/>
                <a:ext cx="2971800" cy="2596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s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l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acc>
                        <m:accPr>
                          <m:chr m:val="̂"/>
                        </m:accPr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c</m:t>
                          </m:r>
                        </m:sub>
                      </m:sSub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r>
                        <m:rPr>
                          <m:sty m:val="b"/>
                        </m:rPr>
                        <a:rPr lang="uk-UA" sz="1200" b="1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1</m:t>
                      </m:r>
                      <m:sSubSup>
                        <m:e>
                          <m:r>
                            <m:rPr>
                              <m:sty m:val="b"/>
                            </m:rPr>
                            <a:rPr lang="uk-UA" sz="120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⊤</m:t>
                          </m:r>
                        </m:sup>
                      </m:sSubSup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15" name="Рівняння 15"/>
              <p:cNvSpPr txBox="1"/>
              <p:nvPr/>
            </p:nvSpPr>
            <p:spPr>
              <a:xfrm>
                <a:off x="2103120" y="1976932"/>
                <a:ext cx="2651760" cy="2048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6" name="Oval 15"/>
          <p:cNvSpPr/>
          <p:nvPr/>
        </p:nvSpPr>
        <p:spPr>
          <a:xfrm>
            <a:off x="347472" y="1767535"/>
            <a:ext cx="274320" cy="274320"/>
          </a:xfrm>
          <a:prstGeom prst="ellipse">
            <a:avLst/>
          </a:prstGeom>
          <a:solidFill>
            <a:srgbClr val="449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1685239"/>
            <a:ext cx="137160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Матриця переходу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Рівняння 18"/>
              <p:cNvSpPr txBox="1"/>
              <p:nvPr/>
            </p:nvSpPr>
            <p:spPr>
              <a:xfrm>
                <a:off x="2103120" y="2273198"/>
                <a:ext cx="2971800" cy="39319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H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  <m:sub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∣</m:t>
                          </m:r>
                          <m:sSub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θ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H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∣</m:t>
                          </m:r>
                          <m:sSub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18" name="Рівняння 18"/>
              <p:cNvSpPr txBox="1"/>
              <p:nvPr/>
            </p:nvSpPr>
            <p:spPr>
              <a:xfrm>
                <a:off x="2103120" y="2300630"/>
                <a:ext cx="2651760" cy="3383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Рівняння 19"/>
              <p:cNvSpPr txBox="1"/>
              <p:nvPr/>
            </p:nvSpPr>
            <p:spPr>
              <a:xfrm>
                <a:off x="2103120" y="2666390"/>
                <a:ext cx="2525207" cy="27797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H</m:t>
                          </m:r>
                        </m:sub>
                      </m:sSub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acc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19" name="Рівняння 19"/>
              <p:cNvSpPr txBox="1"/>
              <p:nvPr/>
            </p:nvSpPr>
            <p:spPr>
              <a:xfrm>
                <a:off x="2103120" y="2693822"/>
                <a:ext cx="2245766" cy="2231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0" name="Oval 19"/>
          <p:cNvSpPr/>
          <p:nvPr/>
        </p:nvSpPr>
        <p:spPr>
          <a:xfrm>
            <a:off x="347472" y="2471623"/>
            <a:ext cx="274320" cy="274320"/>
          </a:xfrm>
          <a:prstGeom prst="ellipse">
            <a:avLst/>
          </a:prstGeom>
          <a:solidFill>
            <a:srgbClr val="F9D4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2389327"/>
            <a:ext cx="137160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Дискретизація WEDD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Рівняння 22"/>
              <p:cNvSpPr txBox="1"/>
              <p:nvPr/>
            </p:nvSpPr>
            <p:spPr>
              <a:xfrm>
                <a:off x="2103120" y="3008376"/>
                <a:ext cx="1947854" cy="2231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bar>
                        <m:barPr>
                          <m:pos m:val="bot"/>
                        </m:barPr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</m:ba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"/>
                          <m:grow/>
                        </m:dPr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U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∣</m:t>
                          </m:r>
                          <m:sSub>
                            <m:e>
                              <m:d>
                                <m:dPr>
                                  <m:begChr m:val="["/>
                                  <m:endChr m:val="]"/>
                                  <m:sepChr m:val=""/>
                                  <m:grow/>
                                </m:dPr>
                                <m:e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⊆</m:t>
                          </m:r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</m:d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22" name="Рівняння 22"/>
              <p:cNvSpPr txBox="1"/>
              <p:nvPr/>
            </p:nvSpPr>
            <p:spPr>
              <a:xfrm>
                <a:off x="2103120" y="3035808"/>
                <a:ext cx="1720900" cy="1682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Рівняння 23"/>
              <p:cNvSpPr txBox="1"/>
              <p:nvPr/>
            </p:nvSpPr>
            <p:spPr>
              <a:xfrm>
                <a:off x="2103120" y="3231489"/>
                <a:ext cx="3384194" cy="3383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Sup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ρ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*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arg min</m:t>
                          </m:r>
                        </m:e>
                        <m:lim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lim>
                      </m:limLow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d>
                        <m:dPr>
                          <m:begChr m:val="|"/>
                          <m:endChr m:val="|"/>
                          <m:sepChr m:val=""/>
                          <m:grow/>
                        </m:dPr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τ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sSub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min</m:t>
                          </m:r>
                        </m:sub>
                      </m:sSub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23" name="Рівняння 23"/>
              <p:cNvSpPr txBox="1"/>
              <p:nvPr/>
            </p:nvSpPr>
            <p:spPr>
              <a:xfrm>
                <a:off x="2103120" y="3258921"/>
                <a:ext cx="3026664" cy="2834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4" name="Oval 23"/>
          <p:cNvSpPr/>
          <p:nvPr/>
        </p:nvSpPr>
        <p:spPr>
          <a:xfrm>
            <a:off x="347472" y="3151936"/>
            <a:ext cx="274320" cy="274320"/>
          </a:xfrm>
          <a:prstGeom prst="ellipse">
            <a:avLst/>
          </a:prstGeom>
          <a:solidFill>
            <a:srgbClr val="AA5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3069640"/>
            <a:ext cx="137160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Грубі множини і редукти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Рівняння 26"/>
              <p:cNvSpPr txBox="1"/>
              <p:nvPr/>
            </p:nvSpPr>
            <p:spPr>
              <a:xfrm>
                <a:off x="2103120" y="3633825"/>
                <a:ext cx="2044415" cy="4297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⋀</m:t>
                          </m:r>
                        </m:e>
                        <m:lim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</m:lim>
                      </m:limLow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26" name="Рівняння 26"/>
              <p:cNvSpPr txBox="1"/>
              <p:nvPr/>
            </p:nvSpPr>
            <p:spPr>
              <a:xfrm>
                <a:off x="2103120" y="3661257"/>
                <a:ext cx="1808683" cy="3749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7" name="Oval 26"/>
          <p:cNvSpPr/>
          <p:nvPr/>
        </p:nvSpPr>
        <p:spPr>
          <a:xfrm>
            <a:off x="347472" y="3711549"/>
            <a:ext cx="274320" cy="274320"/>
          </a:xfrm>
          <a:prstGeom prst="ellipse">
            <a:avLst/>
          </a:prstGeom>
          <a:solidFill>
            <a:srgbClr val="E06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3629253"/>
            <a:ext cx="137160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Правило «ЯКЩО – ТО»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Рівняння 29"/>
              <p:cNvSpPr txBox="1"/>
              <p:nvPr/>
            </p:nvSpPr>
            <p:spPr>
              <a:xfrm>
                <a:off x="2103120" y="4127601"/>
                <a:ext cx="2702234" cy="42793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S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:</m:t>
                          </m:r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 </m:t>
                          </m:r>
                          <m:sSub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</m:sub>
                        <m:sup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</m:nary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sSub>
                        <m:e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29" name="Рівняння 29"/>
              <p:cNvSpPr txBox="1"/>
              <p:nvPr/>
            </p:nvSpPr>
            <p:spPr>
              <a:xfrm>
                <a:off x="2103120" y="4155033"/>
                <a:ext cx="2406700" cy="3730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Рівняння 30"/>
              <p:cNvSpPr txBox="1"/>
              <p:nvPr/>
            </p:nvSpPr>
            <p:spPr>
              <a:xfrm>
                <a:off x="2103120" y="4555540"/>
                <a:ext cx="4094317" cy="53035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Q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Q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sub>
                          </m:sSub>
                        </m:sub>
                        <m:sup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</m:acc>
                            </m:e>
                            <m:sub>
                              <m:r>
                                <a:rPr lang="uk-UA" sz="12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uk-UA" sz="12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uk-UA" sz="12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uk-UA" sz="12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30" name="Рівняння 30"/>
              <p:cNvSpPr txBox="1"/>
              <p:nvPr/>
            </p:nvSpPr>
            <p:spPr>
              <a:xfrm>
                <a:off x="2103120" y="4582972"/>
                <a:ext cx="3672230" cy="4754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347472" y="4469587"/>
            <a:ext cx="274320" cy="274320"/>
          </a:xfrm>
          <a:prstGeom prst="ellipse">
            <a:avLst/>
          </a:prstGeom>
          <a:solidFill>
            <a:srgbClr val="2B7B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4387291"/>
            <a:ext cx="1371600" cy="43891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1050" b="1" i="0">
                <a:solidFill>
                  <a:srgbClr val="1F1F1F"/>
                </a:solidFill>
                <a:latin typeface="Arial"/>
                <a:ea typeface="Arial"/>
                <a:cs typeface="Arial"/>
              </a:rPr>
              <a:t>Конфлікт і аудит</a:t>
            </a:r>
          </a:p>
        </p:txBody>
      </p:sp>
      <p:sp>
        <p:nvSpPr>
          <p:cNvPr id="33" name="Panel: rule"/>
          <p:cNvSpPr/>
          <p:nvPr/>
        </p:nvSpPr>
        <p:spPr>
          <a:xfrm>
            <a:off x="7223760" y="896112"/>
            <a:ext cx="457200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anel: rule title"/>
          <p:cNvSpPr txBox="1"/>
          <p:nvPr/>
        </p:nvSpPr>
        <p:spPr>
          <a:xfrm>
            <a:off x="7333488" y="950976"/>
            <a:ext cx="435254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Приклад правила (AwA2)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Рівняння 35"/>
              <p:cNvSpPr txBox="1"/>
              <p:nvPr/>
            </p:nvSpPr>
            <p:spPr>
              <a:xfrm>
                <a:off x="7360920" y="1280160"/>
                <a:ext cx="3929359" cy="2029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m:rPr>
                          <m:nor/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лапи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0.40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хижак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0.40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малий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0.15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∧</m:t>
                      </m:r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35" name="Рівняння 35"/>
              <p:cNvSpPr txBox="1"/>
              <p:nvPr/>
            </p:nvSpPr>
            <p:spPr>
              <a:xfrm>
                <a:off x="7360920" y="1307592"/>
                <a:ext cx="3522268" cy="1481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Рівняння 36"/>
              <p:cNvSpPr txBox="1"/>
              <p:nvPr/>
            </p:nvSpPr>
            <p:spPr>
              <a:xfrm>
                <a:off x="7360920" y="1627632"/>
                <a:ext cx="2537277" cy="2157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m:rPr>
                          <m:nor/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жовтий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0.40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a:rPr lang="uk-UA" sz="12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nor/>
                          <m:sty m:val="p"/>
                        </m:rPr>
                        <a:rPr lang="uk-UA" sz="12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«тигр»</m:t>
                      </m:r>
                    </m:oMath>
                  </m:oMathPara>
                </a14:m>
                <a:endParaRPr lang="uk-UA" sz="1200" dirty="0"/>
              </a:p>
            </p:txBody>
          </p:sp>
        </mc:Choice>
        <mc:Fallback>
          <p:sp>
            <p:nvSpPr>
              <p:cNvPr id="36" name="Рівняння 36"/>
              <p:cNvSpPr txBox="1"/>
              <p:nvPr/>
            </p:nvSpPr>
            <p:spPr>
              <a:xfrm>
                <a:off x="7360920" y="1655064"/>
                <a:ext cx="2256739" cy="16093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Рівняння 37"/>
              <p:cNvSpPr txBox="1"/>
              <p:nvPr/>
            </p:nvSpPr>
            <p:spPr>
              <a:xfrm>
                <a:off x="7360920" y="1975104"/>
                <a:ext cx="2293109" cy="21084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115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0.896</m:t>
                      </m:r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37" name="Рівняння 37"/>
              <p:cNvSpPr txBox="1"/>
              <p:nvPr/>
            </p:nvSpPr>
            <p:spPr>
              <a:xfrm>
                <a:off x="7360920" y="2002536"/>
                <a:ext cx="2034768" cy="15598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8" name="Panel: results"/>
          <p:cNvSpPr/>
          <p:nvPr/>
        </p:nvSpPr>
        <p:spPr>
          <a:xfrm>
            <a:off x="7223760" y="2468880"/>
            <a:ext cx="45720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7315200" y="2560320"/>
            <a:ext cx="1042415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388352" y="2615184"/>
            <a:ext cx="896111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7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0.807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8352" y="2999232"/>
            <a:ext cx="896111" cy="393191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9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кореляція відтворення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30768" y="2560320"/>
            <a:ext cx="1042415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503920" y="2615184"/>
            <a:ext cx="896111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7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59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2999232"/>
            <a:ext cx="896111" cy="393191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9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правил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46336" y="2560320"/>
            <a:ext cx="1042415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619488" y="2615184"/>
            <a:ext cx="896111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7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84.8%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19488" y="2999232"/>
            <a:ext cx="896111" cy="393191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9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покриття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661904" y="2560320"/>
            <a:ext cx="1042415" cy="868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0735056" y="2615184"/>
            <a:ext cx="896111" cy="36576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7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40.5%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35056" y="2999232"/>
            <a:ext cx="896111" cy="393191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9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вірність на покритих</a:t>
            </a:r>
          </a:p>
        </p:txBody>
      </p:sp>
      <p:sp>
        <p:nvSpPr>
          <p:cNvPr id="51" name="Panel: discretisers"/>
          <p:cNvSpPr/>
          <p:nvPr/>
        </p:nvSpPr>
        <p:spPr>
          <a:xfrm>
            <a:off x="7223760" y="3611880"/>
            <a:ext cx="4572000" cy="2313432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Panel: discretisers title"/>
          <p:cNvSpPr txBox="1"/>
          <p:nvPr/>
        </p:nvSpPr>
        <p:spPr>
          <a:xfrm>
            <a:off x="7333488" y="3666744"/>
            <a:ext cx="435254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Дискретизатори: покриття і вірність</a:t>
            </a:r>
          </a:p>
        </p:txBody>
      </p:sp>
      <p:graphicFrame>
        <p:nvGraphicFramePr>
          <p:cNvPr id="53" name="Chart: discretisers"/>
          <p:cNvGraphicFramePr>
            <a:graphicFrameLocks noGrp="1"/>
          </p:cNvGraphicFramePr>
          <p:nvPr/>
        </p:nvGraphicFramePr>
        <p:xfrm>
          <a:off x="7287768" y="3950208"/>
          <a:ext cx="4443984" cy="1920240"/>
        </p:xfrm>
        <a:graphic>
          <a:graphicData uri="http://schemas.openxmlformats.org/drawingml/2006/chart">
            <c:chart xmlns:c="http://schemas.openxmlformats.org/drawingml/2006/chart" r:id="rId15"/>
          </a:graphicData>
        </a:graphic>
      </p:graphicFrame>
      <p:sp>
        <p:nvSpPr>
          <p:cNvPr id="54" name="Джерела"/>
          <p:cNvSpPr txBox="1"/>
          <p:nvPr/>
        </p:nvSpPr>
        <p:spPr>
          <a:xfrm>
            <a:off x="201168" y="6053328"/>
            <a:ext cx="11795760" cy="7863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Джерела: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1. 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Radiuk P., Barmak O., Krak I. SEMTRA: global semantic transition and rough-set rules for auditable post-hoc explainability. </a:t>
            </a:r>
            <a:r>
              <a:rPr sz="90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Machine Learning and Knowledge Extraction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 2026. Vol. 8, no. 7. Art. 181. DOI: </a:t>
            </a:r>
            <a:r>
              <a:rPr sz="90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6"/>
              </a:rPr>
              <a:t>10.3390/make8070181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2. 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Radiuk P., Barmak O., Manziuk E., Krak I. Explainable deep learning: a visual analytics approach with transition matrices. </a:t>
            </a:r>
            <a:r>
              <a:rPr sz="90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Mathematics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 2024. Vol. 12, no. 7. Art. 1024. DOI: </a:t>
            </a:r>
            <a:r>
              <a:rPr sz="90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7"/>
              </a:rPr>
              <a:t>10.3390/math12071024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Mask layout bar"/>
          <p:cNvSpPr/>
          <p:nvPr/>
        </p:nvSpPr>
        <p:spPr>
          <a:xfrm>
            <a:off x="530352" y="2048256"/>
            <a:ext cx="22402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8EA0B3E-586A-43E2-A0F5-990680D6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098" y="230965"/>
            <a:ext cx="523240" cy="541545"/>
          </a:xfrm>
        </p:spPr>
        <p:txBody>
          <a:bodyPr/>
          <a:lstStyle/>
          <a:p>
            <a:fld id="{294A09A9-5501-47C1-A89A-A340965A2BE2}" type="slidenum">
              <a:rPr lang="en-US" sz="3200" smtClean="0"/>
              <a:pPr/>
              <a:t>16</a:t>
            </a:fld>
            <a:endParaRPr lang="en-US" sz="3200" dirty="0">
              <a:latin typeface="+mn-lt"/>
            </a:endParaRPr>
          </a:p>
        </p:txBody>
      </p:sp>
      <p:sp>
        <p:nvSpPr>
          <p:cNvPr id="7" name="Title"/>
          <p:cNvSpPr txBox="1"/>
          <p:nvPr/>
        </p:nvSpPr>
        <p:spPr>
          <a:xfrm>
            <a:off x="201168" y="36576"/>
            <a:ext cx="969264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Пояснювальний ШІ в кардіології (МРТ): CINETRA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219456" y="484632"/>
            <a:ext cx="996696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50" b="0" i="1">
                <a:solidFill>
                  <a:srgbClr val="404040"/>
                </a:solidFill>
                <a:latin typeface="Arial"/>
                <a:ea typeface="Arial"/>
                <a:cs typeface="Arial"/>
              </a:rPr>
              <a:t>Перенос клінічних концептів серця між центрами та виробниками МРТ-сканерів</a:t>
            </a:r>
          </a:p>
        </p:txBody>
      </p:sp>
      <p:sp>
        <p:nvSpPr>
          <p:cNvPr id="9" name="Panel: MRI"/>
          <p:cNvSpPr/>
          <p:nvPr/>
        </p:nvSpPr>
        <p:spPr>
          <a:xfrm>
            <a:off x="228600" y="896112"/>
            <a:ext cx="3200400" cy="260604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Panel: MRI title"/>
          <p:cNvSpPr txBox="1"/>
          <p:nvPr/>
        </p:nvSpPr>
        <p:spPr>
          <a:xfrm>
            <a:off x="338328" y="950976"/>
            <a:ext cx="298094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Кіно-МРТ і концепти</a:t>
            </a:r>
          </a:p>
        </p:txBody>
      </p:sp>
      <p:pic>
        <p:nvPicPr>
          <p:cNvPr id="11" name="Picture 10" descr="Кіно-МРТ серця ACDC у фазах діастоли та систоли з контурами лівого шлуночка, міокарда та правого шлуночк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61872"/>
            <a:ext cx="2962656" cy="14890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9184" y="2724912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80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ЛШ — помаранчевий, міокард — зелений, ПШ — синій; ACDC, CC BY-NC-SA 4.0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Рівняння 13"/>
              <p:cNvSpPr txBox="1"/>
              <p:nvPr/>
            </p:nvSpPr>
            <p:spPr>
              <a:xfrm>
                <a:off x="411480" y="3017520"/>
                <a:ext cx="2087499" cy="28536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57</m:t>
                          </m:r>
                        </m:sup>
                      </m:sSup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limUpp>
                        <m:e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→</m:t>
                          </m:r>
                        </m:e>
                        <m:lim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 </m:t>
                          </m:r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 </m:t>
                          </m:r>
                        </m:lim>
                      </m:limUpp>
                      <m:r>
                        <a:rPr lang="uk-UA" sz="12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acc>
                        <m:accPr>
                          <m:chr m:val="̂"/>
                        </m:accPr>
                        <m:e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uk-UA" sz="12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uk-UA" sz="12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2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uk-UA" sz="1250" dirty="0"/>
              </a:p>
            </p:txBody>
          </p:sp>
        </mc:Choice>
        <mc:Fallback>
          <p:sp>
            <p:nvSpPr>
              <p:cNvPr id="13" name="Рівняння 13"/>
              <p:cNvSpPr txBox="1"/>
              <p:nvPr/>
            </p:nvSpPr>
            <p:spPr>
              <a:xfrm>
                <a:off x="411480" y="3044951"/>
                <a:ext cx="1847850" cy="230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4" name="Panel: transition"/>
          <p:cNvSpPr/>
          <p:nvPr/>
        </p:nvSpPr>
        <p:spPr>
          <a:xfrm>
            <a:off x="3566160" y="896112"/>
            <a:ext cx="4572000" cy="260604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anel: transition title"/>
          <p:cNvSpPr txBox="1"/>
          <p:nvPr/>
        </p:nvSpPr>
        <p:spPr>
          <a:xfrm>
            <a:off x="3675887" y="950976"/>
            <a:ext cx="435254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Матриця переходу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Рівняння 16"/>
              <p:cNvSpPr txBox="1"/>
              <p:nvPr/>
            </p:nvSpPr>
            <p:spPr>
              <a:xfrm>
                <a:off x="3639312" y="1243584"/>
                <a:ext cx="3413196" cy="4491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m:rPr>
                              <m:sty m:val="b"/>
                            </m:rPr>
                            <a:rPr lang="uk-UA" sz="115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  <m:sSubSup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⊤</m:t>
                              </m:r>
                            </m:sup>
                          </m:sSubSup>
                        </m:e>
                      </m:d>
                      <m:sSubSup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6" name="Рівняння 16"/>
              <p:cNvSpPr txBox="1"/>
              <p:nvPr/>
            </p:nvSpPr>
            <p:spPr>
              <a:xfrm>
                <a:off x="3639312" y="1271016"/>
                <a:ext cx="3053029" cy="3943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Рівняння 17"/>
              <p:cNvSpPr txBox="1"/>
              <p:nvPr/>
            </p:nvSpPr>
            <p:spPr>
              <a:xfrm>
                <a:off x="3639312" y="1747647"/>
                <a:ext cx="3839253" cy="4544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uk-UA" sz="1150" b="1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arg min</m:t>
                          </m:r>
                        </m:e>
                        <m:lim>
                          <m:r>
                            <m:rPr>
                              <m:sty m:val="b"/>
                            </m:rPr>
                            <a:rPr lang="uk-UA" sz="115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lim>
                      </m:limLow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sub>
                        <m:sup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a:rPr lang="uk-UA" sz="1150" b="1" i="0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b"/>
                                    </m:rPr>
                                    <a:rPr lang="uk-UA" sz="1150" b="1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uk-UA" sz="115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b>
                                    <m:e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uk-UA" sz="115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∥</m:t>
                      </m:r>
                      <m:r>
                        <m:rPr>
                          <m:sty m:val="b"/>
                        </m:rPr>
                        <a:rPr lang="uk-UA" sz="1150" b="1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7" name="Рівняння 17"/>
              <p:cNvSpPr txBox="1"/>
              <p:nvPr/>
            </p:nvSpPr>
            <p:spPr>
              <a:xfrm>
                <a:off x="3639312" y="1775079"/>
                <a:ext cx="3440353" cy="3995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Рівняння 18"/>
              <p:cNvSpPr txBox="1"/>
              <p:nvPr/>
            </p:nvSpPr>
            <p:spPr>
              <a:xfrm>
                <a:off x="3639312" y="2256967"/>
                <a:ext cx="3858531" cy="27043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uk-UA" sz="1150" b="1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m:rPr>
                                      <m:sty m:val="b"/>
                                    </m:rPr>
                                    <a:rPr lang="uk-UA" sz="1150" b="1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</m:e>
                                <m:sub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uk-UA" sz="115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8" name="Рівняння 18"/>
              <p:cNvSpPr txBox="1"/>
              <p:nvPr/>
            </p:nvSpPr>
            <p:spPr>
              <a:xfrm>
                <a:off x="3639312" y="2284399"/>
                <a:ext cx="3457879" cy="2155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Рівняння 19"/>
              <p:cNvSpPr txBox="1"/>
              <p:nvPr/>
            </p:nvSpPr>
            <p:spPr>
              <a:xfrm>
                <a:off x="3639312" y="2582265"/>
                <a:ext cx="2699887" cy="4895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ρ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ρ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F</m:t>
                          </m:r>
                        </m:sub>
                        <m:sup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ρ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9" name="Рівняння 19"/>
              <p:cNvSpPr txBox="1"/>
              <p:nvPr/>
            </p:nvSpPr>
            <p:spPr>
              <a:xfrm>
                <a:off x="3639312" y="2609697"/>
                <a:ext cx="2404567" cy="4346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0" name="Panel: rho"/>
          <p:cNvSpPr/>
          <p:nvPr/>
        </p:nvSpPr>
        <p:spPr>
          <a:xfrm>
            <a:off x="8275320" y="896112"/>
            <a:ext cx="3520440" cy="260604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anel: rho title"/>
          <p:cNvSpPr txBox="1"/>
          <p:nvPr/>
        </p:nvSpPr>
        <p:spPr>
          <a:xfrm>
            <a:off x="8385048" y="950976"/>
            <a:ext cx="330098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Перенос концептів між когортами</a:t>
            </a:r>
          </a:p>
        </p:txBody>
      </p:sp>
      <p:graphicFrame>
        <p:nvGraphicFramePr>
          <p:cNvPr id="22" name="Chart: rho by cohort"/>
          <p:cNvGraphicFramePr>
            <a:graphicFrameLocks noGrp="1"/>
          </p:cNvGraphicFramePr>
          <p:nvPr/>
        </p:nvGraphicFramePr>
        <p:xfrm>
          <a:off x="8321040" y="1207008"/>
          <a:ext cx="3429000" cy="192024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366760" y="3127248"/>
            <a:ext cx="3383280" cy="34747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850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Вуса — 95% ДІ; ✓ — нижня межа ДІ вища за 0.10</a:t>
            </a:r>
          </a:p>
        </p:txBody>
      </p:sp>
      <p:sp>
        <p:nvSpPr>
          <p:cNvPr id="24" name="Panel: rules"/>
          <p:cNvSpPr/>
          <p:nvPr/>
        </p:nvSpPr>
        <p:spPr>
          <a:xfrm>
            <a:off x="228600" y="3593592"/>
            <a:ext cx="5120640" cy="2350008"/>
          </a:xfrm>
          <a:prstGeom prst="roundRect">
            <a:avLst>
              <a:gd name="adj" fmla="val 4669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anel: rules title"/>
          <p:cNvSpPr txBox="1"/>
          <p:nvPr/>
        </p:nvSpPr>
        <p:spPr>
          <a:xfrm>
            <a:off x="338328" y="3648456"/>
            <a:ext cx="4901183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Дискретизація і допуск правил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Рівняння 26"/>
              <p:cNvSpPr txBox="1"/>
              <p:nvPr/>
            </p:nvSpPr>
            <p:spPr>
              <a:xfrm>
                <a:off x="365760" y="3931920"/>
                <a:ext cx="2135024" cy="2686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0.65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0.35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acc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26" name="Рівняння 26"/>
              <p:cNvSpPr txBox="1"/>
              <p:nvPr/>
            </p:nvSpPr>
            <p:spPr>
              <a:xfrm>
                <a:off x="365760" y="3959352"/>
                <a:ext cx="1891055" cy="2138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Рівняння 27"/>
              <p:cNvSpPr txBox="1"/>
              <p:nvPr/>
            </p:nvSpPr>
            <p:spPr>
              <a:xfrm>
                <a:off x="365760" y="4237177"/>
                <a:ext cx="3293668" cy="41414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∩</m:t>
                              </m:r>
                              <m:sSub>
                                <m:e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β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β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0.10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d>
                        <m:dPr>
                          <m:begChr m:val="|"/>
                          <m:endChr m:val="|"/>
                          <m:sepChr m:val=""/>
                          <m:grow/>
                        </m:dPr>
                        <m:e>
                          <m:sSub>
                            <m:e>
                              <m:d>
                                <m:dPr>
                                  <m:begChr m:val="["/>
                                  <m:endChr m:val="]"/>
                                  <m:sepChr m:val=""/>
                                  <m:grow/>
                                </m:dPr>
                                <m:e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5</m:t>
                      </m:r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27" name="Рівняння 27"/>
              <p:cNvSpPr txBox="1"/>
              <p:nvPr/>
            </p:nvSpPr>
            <p:spPr>
              <a:xfrm>
                <a:off x="365760" y="4264609"/>
                <a:ext cx="2944368" cy="3592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Рівняння 28"/>
              <p:cNvSpPr txBox="1"/>
              <p:nvPr/>
            </p:nvSpPr>
            <p:spPr>
              <a:xfrm>
                <a:off x="365760" y="4687900"/>
                <a:ext cx="2915808" cy="5543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acc>
                            <m:accPr>
                              <m:chr m:val="̂"/>
                            </m:accPr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π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sSup>
                                <m:e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p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z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acc>
                                    <m:accPr>
                                      <m:chr m:val="̂"/>
                                    </m:accPr>
                                    <m:e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π</m:t>
                                      </m:r>
                                    </m:e>
                                  </m:acc>
                                  <m:d>
                                    <m:dPr>
                                      <m:begChr m:val="("/>
                                      <m:endChr m:val=")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uk-UA" sz="1150" b="0" i="0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</m:accPr>
                                        <m:e>
                                          <m:r>
                                            <a:rPr lang="uk-UA" sz="1150" b="0" i="1">
                                              <a:solidFill>
                                                <a:srgbClr val="1F1F1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  <a:cs typeface="Cambria Math"/>
                                            </a:rPr>
                                            <m:t>π</m:t>
                                          </m:r>
                                        </m:e>
                                      </m:acc>
                                    </m:e>
                                  </m:d>
                                </m:num>
                                <m:den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sSup>
                                    <m:e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z</m:t>
                                      </m:r>
                                    </m:e>
                                    <m:sup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4</m:t>
                                  </m:r>
                                  <m:sSup>
                                    <m:e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m</m:t>
                                      </m:r>
                                    </m:e>
                                    <m:sup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rad>
                        </m:num>
                        <m:den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sSup>
                                <m:e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z</m:t>
                                  </m:r>
                                </m:e>
                                <m:sup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den>
                          </m:f>
                        </m:den>
                      </m:f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0.60</m:t>
                      </m:r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28" name="Рівняння 28"/>
              <p:cNvSpPr txBox="1"/>
              <p:nvPr/>
            </p:nvSpPr>
            <p:spPr>
              <a:xfrm>
                <a:off x="365760" y="4715332"/>
                <a:ext cx="2600858" cy="49949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347472" y="5260543"/>
            <a:ext cx="4937760" cy="63733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Правило приймається лише за виконання обох умов допуску: </a:t>
            </a:r>
            <a:r>
              <a:rPr sz="9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залежно від обсягу даних і стабільності порогів правила можуть бути згенеровані або ні</a:t>
            </a:r>
          </a:p>
        </p:txBody>
      </p:sp>
      <p:sp>
        <p:nvSpPr>
          <p:cNvPr id="30" name="Panel: heatmap"/>
          <p:cNvSpPr/>
          <p:nvPr/>
        </p:nvSpPr>
        <p:spPr>
          <a:xfrm>
            <a:off x="5486400" y="3593592"/>
            <a:ext cx="3429000" cy="2350008"/>
          </a:xfrm>
          <a:prstGeom prst="roundRect">
            <a:avLst>
              <a:gd name="adj" fmla="val 4669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anel: heatmap title"/>
          <p:cNvSpPr txBox="1"/>
          <p:nvPr/>
        </p:nvSpPr>
        <p:spPr>
          <a:xfrm>
            <a:off x="5596128" y="3648456"/>
            <a:ext cx="320954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Перенос за концептами</a:t>
            </a:r>
          </a:p>
        </p:txBody>
      </p:sp>
      <p:graphicFrame>
        <p:nvGraphicFramePr>
          <p:cNvPr id="32" name="Table: rho_j heatmap"/>
          <p:cNvGraphicFramePr>
            <a:graphicFrameLocks noGrp="1"/>
          </p:cNvGraphicFramePr>
          <p:nvPr/>
        </p:nvGraphicFramePr>
        <p:xfrm>
          <a:off x="5577840" y="3931920"/>
          <a:ext cx="3209544" cy="193852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77824"/>
                <a:gridCol w="777240"/>
                <a:gridCol w="777240"/>
                <a:gridCol w="777240"/>
              </a:tblGrid>
              <a:tr h="242316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Концепт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ACDC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M&amp;Ms-1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M&amp;Ms-2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КДО ЛШ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0.47</a:t>
                      </a:r>
                    </a:p>
                  </a:txBody>
                  <a:tcPr marL="45720" marR="45720" marT="9144" marB="9144" anchor="ctr">
                    <a:solidFill>
                      <a:srgbClr val="789E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−0.23</a:t>
                      </a:r>
                    </a:p>
                  </a:txBody>
                  <a:tcPr marL="45720" marR="45720" marT="9144" marB="9144" anchor="ctr">
                    <a:solidFill>
                      <a:srgbClr val="E8C7B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0.06</a:t>
                      </a:r>
                    </a:p>
                  </a:txBody>
                  <a:tcPr marL="45720" marR="45720" marT="9144" marB="9144" anchor="ctr">
                    <a:solidFill>
                      <a:srgbClr val="E7ECF0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КСО ЛШ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0.65</a:t>
                      </a:r>
                    </a:p>
                  </a:txBody>
                  <a:tcPr marL="45720" marR="45720" marT="9144" marB="9144" anchor="ctr">
                    <a:solidFill>
                      <a:srgbClr val="487CA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0.16</a:t>
                      </a:r>
                    </a:p>
                  </a:txBody>
                  <a:tcPr marL="45720" marR="45720" marT="9144" marB="9144" anchor="ctr">
                    <a:solidFill>
                      <a:srgbClr val="CCD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0.35</a:t>
                      </a:r>
                    </a:p>
                  </a:txBody>
                  <a:tcPr marL="45720" marR="45720" marT="9144" marB="9144" anchor="ctr">
                    <a:solidFill>
                      <a:srgbClr val="98B4CE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ФВ ЛШ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0.79</a:t>
                      </a:r>
                    </a:p>
                  </a:txBody>
                  <a:tcPr marL="45720" marR="45720" marT="9144" marB="9144" anchor="ctr">
                    <a:solidFill>
                      <a:srgbClr val="2261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0.63</a:t>
                      </a:r>
                    </a:p>
                  </a:txBody>
                  <a:tcPr marL="45720" marR="45720" marT="9144" marB="9144" anchor="ctr">
                    <a:solidFill>
                      <a:srgbClr val="4D7F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0.67</a:t>
                      </a:r>
                    </a:p>
                  </a:txBody>
                  <a:tcPr marL="45720" marR="45720" marT="9144" marB="9144" anchor="ctr">
                    <a:solidFill>
                      <a:srgbClr val="4278A8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КДО ПШ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0.45</a:t>
                      </a:r>
                    </a:p>
                  </a:txBody>
                  <a:tcPr marL="45720" marR="45720" marT="9144" marB="9144" anchor="ctr">
                    <a:solidFill>
                      <a:srgbClr val="7EA2C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−0.10</a:t>
                      </a:r>
                    </a:p>
                  </a:txBody>
                  <a:tcPr marL="45720" marR="45720" marT="9144" marB="9144" anchor="ctr">
                    <a:solidFill>
                      <a:srgbClr val="F1E2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0.08</a:t>
                      </a:r>
                    </a:p>
                  </a:txBody>
                  <a:tcPr marL="45720" marR="45720" marT="9144" marB="9144" anchor="ctr">
                    <a:solidFill>
                      <a:srgbClr val="E1E8EE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КСО ПШ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0.55</a:t>
                      </a:r>
                    </a:p>
                  </a:txBody>
                  <a:tcPr marL="45720" marR="45720" marT="9144" marB="9144" anchor="ctr">
                    <a:solidFill>
                      <a:srgbClr val="628E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0.27</a:t>
                      </a:r>
                    </a:p>
                  </a:txBody>
                  <a:tcPr marL="45720" marR="45720" marT="9144" marB="9144" anchor="ctr">
                    <a:solidFill>
                      <a:srgbClr val="AEC4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0.19</a:t>
                      </a:r>
                    </a:p>
                  </a:txBody>
                  <a:tcPr marL="45720" marR="45720" marT="9144" marB="9144" anchor="ctr">
                    <a:solidFill>
                      <a:srgbClr val="C4D3E1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ФВ ПШ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0.57</a:t>
                      </a:r>
                    </a:p>
                  </a:txBody>
                  <a:tcPr marL="45720" marR="45720" marT="9144" marB="9144" anchor="ctr">
                    <a:solidFill>
                      <a:srgbClr val="5D8B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0.50</a:t>
                      </a:r>
                    </a:p>
                  </a:txBody>
                  <a:tcPr marL="45720" marR="45720" marT="9144" marB="9144" anchor="ctr">
                    <a:solidFill>
                      <a:srgbClr val="7098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0.55</a:t>
                      </a:r>
                    </a:p>
                  </a:txBody>
                  <a:tcPr marL="45720" marR="45720" marT="9144" marB="9144" anchor="ctr">
                    <a:solidFill>
                      <a:srgbClr val="628EB6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Маса ЛШ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0.39</a:t>
                      </a:r>
                    </a:p>
                  </a:txBody>
                  <a:tcPr marL="45720" marR="45720" marT="9144" marB="9144" anchor="ctr">
                    <a:solidFill>
                      <a:srgbClr val="8EAD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0.13</a:t>
                      </a:r>
                    </a:p>
                  </a:txBody>
                  <a:tcPr marL="45720" marR="45720" marT="9144" marB="9144" anchor="ctr">
                    <a:solidFill>
                      <a:srgbClr val="D4DE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0.28</a:t>
                      </a:r>
                    </a:p>
                  </a:txBody>
                  <a:tcPr marL="45720" marR="45720" marT="9144" marB="9144" anchor="ctr">
                    <a:solidFill>
                      <a:srgbClr val="ABC2D6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9052560" y="3593592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107424" y="3593592"/>
            <a:ext cx="1097280" cy="7315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0.880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2992" y="3593592"/>
            <a:ext cx="1536192" cy="7315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</a:pPr>
            <a:r>
              <a:rPr sz="10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точність класифікатора (ACDC)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4402836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07424" y="4402836"/>
            <a:ext cx="1097280" cy="7315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0.96–0.97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22992" y="4402836"/>
            <a:ext cx="1536192" cy="7315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</a:pPr>
            <a:r>
              <a:rPr sz="10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AUC виявлення зсуву домену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52120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107424" y="5212080"/>
            <a:ext cx="1097280" cy="7315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242 / 252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22992" y="5212080"/>
            <a:ext cx="1536192" cy="7315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</a:pPr>
            <a:r>
              <a:rPr sz="10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результати відтворено побайтово</a:t>
            </a:r>
          </a:p>
        </p:txBody>
      </p:sp>
      <p:sp>
        <p:nvSpPr>
          <p:cNvPr id="42" name="Джерела"/>
          <p:cNvSpPr txBox="1"/>
          <p:nvPr/>
        </p:nvSpPr>
        <p:spPr>
          <a:xfrm>
            <a:off x="201168" y="6053328"/>
            <a:ext cx="11795760" cy="7863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Джерела: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1. 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Radiuk P., Barmak O., Krak I. Auditing deep learning for cardiac MRI through semantic transitions and conflict-aware production rules. </a:t>
            </a:r>
            <a:r>
              <a:rPr sz="90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Advanced Digital Technologies: Intelligent Systems, Modeling, and Data-Driven Control (ADT-ISMDDC-2026)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 : materials of the Intern. sci. and pract. workshop. Lviv ; Toruń : Liha-Pres, 2026. P. 46–50. DOI: </a:t>
            </a:r>
            <a:r>
              <a:rPr sz="90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2"/>
              </a:rPr>
              <a:t>10.36059/978-966-397-656-3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2. 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Radiuk P., Barmak O., Krak I. SEMTRA: global semantic transition and rough-set rules for auditable post-hoc explainability. </a:t>
            </a:r>
            <a:r>
              <a:rPr sz="90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Machine Learning and Knowledge Extraction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 2026. Vol. 8, no. 7. Art. 181. DOI: </a:t>
            </a:r>
            <a:r>
              <a:rPr sz="90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3"/>
              </a:rPr>
              <a:t>10.3390/make8070181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Mask layout bar"/>
          <p:cNvSpPr/>
          <p:nvPr/>
        </p:nvSpPr>
        <p:spPr>
          <a:xfrm>
            <a:off x="530352" y="2048256"/>
            <a:ext cx="22402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8EA0B3E-586A-43E2-A0F5-990680D6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098" y="230965"/>
            <a:ext cx="523240" cy="541545"/>
          </a:xfrm>
        </p:spPr>
        <p:txBody>
          <a:bodyPr/>
          <a:lstStyle/>
          <a:p>
            <a:fld id="{294A09A9-5501-47C1-A89A-A340965A2BE2}" type="slidenum">
              <a:rPr lang="en-US" sz="3200" smtClean="0"/>
              <a:pPr/>
              <a:t>17</a:t>
            </a:fld>
            <a:endParaRPr lang="en-US" sz="3200" dirty="0">
              <a:latin typeface="+mn-lt"/>
            </a:endParaRPr>
          </a:p>
        </p:txBody>
      </p:sp>
      <p:sp>
        <p:nvSpPr>
          <p:cNvPr id="7" name="Title"/>
          <p:cNvSpPr txBox="1"/>
          <p:nvPr/>
        </p:nvSpPr>
        <p:spPr>
          <a:xfrm>
            <a:off x="201168" y="36576"/>
            <a:ext cx="969264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Пояснювальний ШІ в рентгенографії ОГК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219456" y="484632"/>
            <a:ext cx="996696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50" b="0" i="1">
                <a:solidFill>
                  <a:srgbClr val="404040"/>
                </a:solidFill>
                <a:latin typeface="Arial"/>
                <a:ea typeface="Arial"/>
                <a:cs typeface="Arial"/>
              </a:rPr>
              <a:t>Матриці переходу з типізованими доказами: PadChest-GR, 3 185 досліджень</a:t>
            </a:r>
          </a:p>
        </p:txBody>
      </p:sp>
      <p:pic>
        <p:nvPicPr>
          <p:cNvPr id="9" name="Picture 8" descr="Схема методу: дані PadChest-GR, класифікатор ResNet-50, реєстр доказів B, матриця переходу T, правила й маршрути, оцінюванн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896112"/>
            <a:ext cx="5257800" cy="2697579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sp>
        <p:nvSpPr>
          <p:cNvPr id="10" name="Panel: formalism"/>
          <p:cNvSpPr/>
          <p:nvPr/>
        </p:nvSpPr>
        <p:spPr>
          <a:xfrm>
            <a:off x="5623560" y="896112"/>
            <a:ext cx="6172200" cy="2697480"/>
          </a:xfrm>
          <a:prstGeom prst="roundRect">
            <a:avLst>
              <a:gd name="adj" fmla="val 4067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anel: formalism title"/>
          <p:cNvSpPr txBox="1"/>
          <p:nvPr/>
        </p:nvSpPr>
        <p:spPr>
          <a:xfrm>
            <a:off x="5733288" y="950976"/>
            <a:ext cx="595274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Формалізація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Рівняння 12"/>
              <p:cNvSpPr txBox="1"/>
              <p:nvPr/>
            </p:nvSpPr>
            <p:spPr>
              <a:xfrm>
                <a:off x="5760720" y="1243584"/>
                <a:ext cx="2302748" cy="2353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m:rPr>
                              <m:sty m:val="b"/>
                            </m:rPr>
                            <a:rPr lang="uk-UA" sz="115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  <m:sSubSup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⊤</m:t>
                              </m:r>
                            </m:sup>
                          </m:sSubSup>
                        </m:e>
                      </m:d>
                      <m:sSubSup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p>
                      </m:sSup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2" name="Рівняння 12"/>
              <p:cNvSpPr txBox="1"/>
              <p:nvPr/>
            </p:nvSpPr>
            <p:spPr>
              <a:xfrm>
                <a:off x="5760720" y="1271016"/>
                <a:ext cx="2043531" cy="1805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Рівняння 13"/>
              <p:cNvSpPr txBox="1"/>
              <p:nvPr/>
            </p:nvSpPr>
            <p:spPr>
              <a:xfrm>
                <a:off x="5760720" y="1515541"/>
                <a:ext cx="3889377" cy="484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uk-UA" sz="1150" b="1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arg min</m:t>
                          </m:r>
                        </m:e>
                        <m:lim>
                          <m:r>
                            <m:rPr>
                              <m:sty m:val="b"/>
                            </m:rPr>
                            <a:rPr lang="uk-UA" sz="115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c</m:t>
                          </m:r>
                        </m:lim>
                      </m:limLow>
                      <m:f>
                        <m:fPr>
                          <m:type m:val="bar"/>
                        </m:fPr>
                        <m:num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O</m:t>
                                  </m:r>
                                </m:e>
                                <m:sub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sub>
                        <m:sup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rPr>
                                          <m:sty m:val="b"/>
                                        </m:rPr>
                                        <a:rPr lang="uk-UA" sz="1150" b="1" i="0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b"/>
                                    </m:rPr>
                                    <a:rPr lang="uk-UA" sz="1150" b="1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w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uk-UA" sz="115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uk-UA" sz="115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∥</m:t>
                      </m:r>
                      <m:r>
                        <m:rPr>
                          <m:sty m:val="b"/>
                        </m:rPr>
                        <a:rPr lang="uk-UA" sz="1150" b="1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3" name="Рівняння 13"/>
              <p:cNvSpPr txBox="1"/>
              <p:nvPr/>
            </p:nvSpPr>
            <p:spPr>
              <a:xfrm>
                <a:off x="5760720" y="1542973"/>
                <a:ext cx="3485921" cy="4293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Рівняння 14"/>
              <p:cNvSpPr txBox="1"/>
              <p:nvPr/>
            </p:nvSpPr>
            <p:spPr>
              <a:xfrm>
                <a:off x="5760720" y="2036368"/>
                <a:ext cx="3048830" cy="25466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acc>
                        <m:accPr>
                          <m:chr m:val="̂"/>
                        </m:accPr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Z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m:rPr>
                              <m:sty m:val="b"/>
                            </m:rPr>
                            <a:rPr lang="uk-UA" sz="115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  <m:sSup>
                            <m:e>
                              <m:r>
                                <m:rPr>
                                  <m:sty m:val="b"/>
                                </m:rPr>
                                <a:rPr lang="uk-UA" sz="1150" b="1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⊤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4" name="Рівняння 14"/>
              <p:cNvSpPr txBox="1"/>
              <p:nvPr/>
            </p:nvSpPr>
            <p:spPr>
              <a:xfrm>
                <a:off x="5760720" y="2063800"/>
                <a:ext cx="2721787" cy="199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Рівняння 15"/>
              <p:cNvSpPr txBox="1"/>
              <p:nvPr/>
            </p:nvSpPr>
            <p:spPr>
              <a:xfrm>
                <a:off x="5760720" y="2327605"/>
                <a:ext cx="3862387" cy="46497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v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x</m:t>
                          </m:r>
                        </m:sub>
                        <m:sup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nary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  <m:sup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​</m:t>
                              </m:r>
                            </m:sup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nary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 </m:t>
                          </m:r>
                          <m:r>
                            <m:rPr>
                              <m:sty m:val="p"/>
                              <m:scr m:val="double-struck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d>
                            <m:dPr>
                              <m:begChr m:val="["/>
                              <m:endChr m:val="]"/>
                              <m:sepChr m:val=""/>
                              <m:grow/>
                            </m:dPr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  <m:sup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​</m:t>
                              </m:r>
                            </m:sup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</m:nary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5" name="Рівняння 15"/>
              <p:cNvSpPr txBox="1"/>
              <p:nvPr/>
            </p:nvSpPr>
            <p:spPr>
              <a:xfrm>
                <a:off x="5760720" y="2355037"/>
                <a:ext cx="3461384" cy="410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Рівняння 16"/>
              <p:cNvSpPr txBox="1"/>
              <p:nvPr/>
            </p:nvSpPr>
            <p:spPr>
              <a:xfrm>
                <a:off x="5760720" y="2829153"/>
                <a:ext cx="3719725" cy="41414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{</m:t>
                              </m:r>
                              <m:sSup>
                                <m:e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uk-UA" sz="1150" b="0" i="0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sSub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: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sSup>
                                    <m:e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uk-UA" sz="1150" b="0" i="0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≠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y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}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sepChr m:val=""/>
                                      <m:grow/>
                                    </m:dPr>
                                    <m:e>
                                      <m:r>
                                        <a:rPr lang="uk-UA" sz="1150" b="0" i="1">
                                          <a:solidFill>
                                            <a:srgbClr val="1F1F1F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β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0.10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d>
                        <m:dPr>
                          <m:begChr m:val="|"/>
                          <m:endChr m:val="|"/>
                          <m:sepChr m:val=""/>
                          <m:grow/>
                        </m:dPr>
                        <m:e>
                          <m:sSub>
                            <m:e>
                              <m:d>
                                <m:dPr>
                                  <m:begChr m:val="["/>
                                  <m:endChr m:val="]"/>
                                  <m:sepChr m:val=""/>
                                  <m:grow/>
                                </m:dPr>
                                <m:e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30</m:t>
                      </m:r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6" name="Рівняння 16"/>
              <p:cNvSpPr txBox="1"/>
              <p:nvPr/>
            </p:nvSpPr>
            <p:spPr>
              <a:xfrm>
                <a:off x="5760720" y="2856585"/>
                <a:ext cx="3331692" cy="3592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7" name="Panel: registry"/>
          <p:cNvSpPr/>
          <p:nvPr/>
        </p:nvSpPr>
        <p:spPr>
          <a:xfrm>
            <a:off x="228600" y="3703320"/>
            <a:ext cx="5257800" cy="2240280"/>
          </a:xfrm>
          <a:prstGeom prst="roundRect">
            <a:avLst>
              <a:gd name="adj" fmla="val 4897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anel: registry title"/>
          <p:cNvSpPr txBox="1"/>
          <p:nvPr/>
        </p:nvSpPr>
        <p:spPr>
          <a:xfrm>
            <a:off x="338328" y="3758183"/>
            <a:ext cx="503834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Реєстр доказів і правила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" y="4059936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393192" y="4160520"/>
            <a:ext cx="265176" cy="265176"/>
          </a:xfrm>
          <a:prstGeom prst="ellipse">
            <a:avLst/>
          </a:prstGeom>
          <a:solidFill>
            <a:srgbClr val="7CA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59936"/>
            <a:ext cx="838961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5000"/>
              </a:lnSpc>
            </a:pPr>
            <a:r>
              <a:rPr sz="13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31</a:t>
            </a:r>
          </a:p>
          <a:p>
            <a:pPr algn="l">
              <a:lnSpc>
                <a:spcPct val="85000"/>
              </a:lnSpc>
            </a:pPr>
            <a:r>
              <a:rPr sz="9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знахідка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16202" y="4059936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671066" y="4160520"/>
            <a:ext cx="265176" cy="265176"/>
          </a:xfrm>
          <a:prstGeom prst="ellipse">
            <a:avLst/>
          </a:prstGeom>
          <a:solidFill>
            <a:srgbClr val="4495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3674" y="4059936"/>
            <a:ext cx="838961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5000"/>
              </a:lnSpc>
            </a:pPr>
            <a:r>
              <a:rPr sz="13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  <a:p>
            <a:pPr algn="l">
              <a:lnSpc>
                <a:spcPct val="85000"/>
              </a:lnSpc>
            </a:pPr>
            <a:r>
              <a:rPr sz="9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локалізація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94076" y="4059936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2948940" y="4160520"/>
            <a:ext cx="265176" cy="265176"/>
          </a:xfrm>
          <a:prstGeom prst="ellipse">
            <a:avLst/>
          </a:prstGeom>
          <a:solidFill>
            <a:srgbClr val="AA5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1548" y="4059936"/>
            <a:ext cx="838961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5000"/>
              </a:lnSpc>
            </a:pPr>
            <a:r>
              <a:rPr sz="13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  <a:p>
            <a:pPr algn="l">
              <a:lnSpc>
                <a:spcPct val="85000"/>
              </a:lnSpc>
            </a:pPr>
            <a:r>
              <a:rPr sz="9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геометрія рамок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71950" y="4059936"/>
            <a:ext cx="1204722" cy="475488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226814" y="4160520"/>
            <a:ext cx="265176" cy="265176"/>
          </a:xfrm>
          <a:prstGeom prst="ellipse">
            <a:avLst/>
          </a:prstGeom>
          <a:solidFill>
            <a:srgbClr val="E06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9422" y="4059936"/>
            <a:ext cx="838961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85000"/>
              </a:lnSpc>
            </a:pPr>
            <a:r>
              <a:rPr sz="13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  <a:p>
            <a:pPr algn="l">
              <a:lnSpc>
                <a:spcPct val="85000"/>
              </a:lnSpc>
            </a:pPr>
            <a:r>
              <a:rPr sz="9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маска легень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626864"/>
            <a:ext cx="4937760" cy="256032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95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Приклад правила (одна з перевірок):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Рівняння 32"/>
              <p:cNvSpPr txBox="1"/>
              <p:nvPr/>
            </p:nvSpPr>
            <p:spPr>
              <a:xfrm>
                <a:off x="365760" y="4882896"/>
                <a:ext cx="4492797" cy="27043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рамок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0.044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1706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f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0.998</m:t>
                      </m:r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32" name="Рівняння 32"/>
              <p:cNvSpPr txBox="1"/>
              <p:nvPr/>
            </p:nvSpPr>
            <p:spPr>
              <a:xfrm>
                <a:off x="365760" y="4910328"/>
                <a:ext cx="4034485" cy="2155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Рівняння 33"/>
              <p:cNvSpPr txBox="1"/>
              <p:nvPr/>
            </p:nvSpPr>
            <p:spPr>
              <a:xfrm>
                <a:off x="365760" y="5208193"/>
                <a:ext cx="1683905" cy="20734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30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0.75</m:t>
                      </m:r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33" name="Рівняння 33"/>
              <p:cNvSpPr txBox="1"/>
              <p:nvPr/>
            </p:nvSpPr>
            <p:spPr>
              <a:xfrm>
                <a:off x="365760" y="5235625"/>
                <a:ext cx="1480947" cy="1524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2148840" y="5208193"/>
            <a:ext cx="3246120" cy="34747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0000"/>
              </a:lnSpc>
            </a:pPr>
            <a:r>
              <a:rPr sz="9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— умова допуску; правила можуть бути згенеровані або ні</a:t>
            </a:r>
          </a:p>
        </p:txBody>
      </p:sp>
      <p:sp>
        <p:nvSpPr>
          <p:cNvPr id="35" name="Panel: localisation"/>
          <p:cNvSpPr/>
          <p:nvPr/>
        </p:nvSpPr>
        <p:spPr>
          <a:xfrm>
            <a:off x="5623560" y="3703320"/>
            <a:ext cx="3611880" cy="2240280"/>
          </a:xfrm>
          <a:prstGeom prst="roundRect">
            <a:avLst>
              <a:gd name="adj" fmla="val 4897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anel: localisation title"/>
          <p:cNvSpPr txBox="1"/>
          <p:nvPr/>
        </p:nvSpPr>
        <p:spPr>
          <a:xfrm>
            <a:off x="5733288" y="3758183"/>
            <a:ext cx="339242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Влучання в рамку радіолога</a:t>
            </a:r>
          </a:p>
        </p:txBody>
      </p:sp>
      <p:graphicFrame>
        <p:nvGraphicFramePr>
          <p:cNvPr id="37" name="Chart: localisation"/>
          <p:cNvGraphicFramePr>
            <a:graphicFrameLocks noGrp="1"/>
          </p:cNvGraphicFramePr>
          <p:nvPr/>
        </p:nvGraphicFramePr>
        <p:xfrm>
          <a:off x="5669280" y="4005072"/>
          <a:ext cx="3520440" cy="141732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8" name="Рівняння 38"/>
              <p:cNvSpPr txBox="1"/>
              <p:nvPr/>
            </p:nvSpPr>
            <p:spPr>
              <a:xfrm>
                <a:off x="5806440" y="5422392"/>
                <a:ext cx="1677619" cy="4588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1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a:rPr lang="uk-UA" sz="11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влуч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uk-UA" sz="11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uk-UA" sz="11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a:rPr lang="uk-UA" sz="11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uk-UA" sz="11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uk-UA" sz="11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uk-UA" sz="11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1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sepChr m:val=""/>
                          <m:grow/>
                        </m:dPr>
                        <m:e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uk-UA" sz="110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</m:acc>
                            </m:e>
                            <m:sub>
                              <m:r>
                                <a:rPr lang="uk-UA" sz="11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1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uk-UA" sz="11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b>
                              <m:r>
                                <a:rPr lang="uk-UA" sz="11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uk-UA" sz="1100" dirty="0"/>
              </a:p>
            </p:txBody>
          </p:sp>
        </mc:Choice>
        <mc:Fallback>
          <p:sp>
            <p:nvSpPr>
              <p:cNvPr id="38" name="Рівняння 38"/>
              <p:cNvSpPr txBox="1"/>
              <p:nvPr/>
            </p:nvSpPr>
            <p:spPr>
              <a:xfrm>
                <a:off x="5806440" y="5449824"/>
                <a:ext cx="1475232" cy="40401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7726679" y="5440680"/>
            <a:ext cx="146304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216 знімків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72600" y="3703320"/>
            <a:ext cx="2423160" cy="704088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427464" y="3703320"/>
            <a:ext cx="868680" cy="7040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0.767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14432" y="3703320"/>
            <a:ext cx="1444752" cy="7040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</a:pPr>
            <a:r>
              <a:rPr sz="10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AUC класифікатора непрозорості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72600" y="4466844"/>
            <a:ext cx="2423160" cy="704088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427464" y="4466844"/>
            <a:ext cx="868680" cy="7040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6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26 / 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14432" y="4466844"/>
            <a:ext cx="1444752" cy="7040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</a:pPr>
            <a:r>
              <a:rPr sz="10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знахідок з AUC ≥ 0.75 (позитивні проти норми)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72600" y="5230368"/>
            <a:ext cx="2423160" cy="704088"/>
          </a:xfrm>
          <a:prstGeom prst="roundRect">
            <a:avLst>
              <a:gd name="adj" fmla="val 10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427464" y="5230368"/>
            <a:ext cx="1188720" cy="7040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300" b="1" i="0">
                <a:solidFill>
                  <a:srgbClr val="1F4E79"/>
                </a:solidFill>
                <a:latin typeface="Times New Roman"/>
                <a:ea typeface="Times New Roman"/>
                <a:cs typeface="Times New Roman"/>
              </a:rPr>
              <a:t>0.997→0.780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34472" y="5230368"/>
            <a:ext cx="1124712" cy="7040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lnSpc>
                <a:spcPct val="92000"/>
              </a:lnSpc>
            </a:pPr>
            <a:r>
              <a:rPr sz="100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AUC: дані навчання → нові пацієнти</a:t>
            </a:r>
          </a:p>
        </p:txBody>
      </p:sp>
      <p:sp>
        <p:nvSpPr>
          <p:cNvPr id="49" name="Джерела"/>
          <p:cNvSpPr txBox="1"/>
          <p:nvPr/>
        </p:nvSpPr>
        <p:spPr>
          <a:xfrm>
            <a:off x="201168" y="6053328"/>
            <a:ext cx="11795760" cy="7863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Джерела: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1. 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Radiuk P., Barmak O., Krak I. SEMTRA: global semantic transition and rough-set rules for auditable post-hoc explainability. </a:t>
            </a:r>
            <a:r>
              <a:rPr sz="90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Machine Learning and Knowledge Extraction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 2026. Vol. 8, no. 7. Art. 181. DOI: </a:t>
            </a:r>
            <a:r>
              <a:rPr sz="90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2"/>
              </a:rPr>
              <a:t>10.3390/make8070181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2. 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Toward explainable deep learning in healthcare through transition matrix and user-friendly features / O. Barmak et al. </a:t>
            </a:r>
            <a:r>
              <a:rPr sz="90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Frontiers in Artificial Intelligence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 2024. Vol. 7. Art. 1482141. DOI: </a:t>
            </a:r>
            <a:r>
              <a:rPr sz="90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3"/>
              </a:rPr>
              <a:t>10.3389/frai.2024.1482141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Mask layout bar"/>
          <p:cNvSpPr/>
          <p:nvPr/>
        </p:nvSpPr>
        <p:spPr>
          <a:xfrm>
            <a:off x="530352" y="2048256"/>
            <a:ext cx="2240280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8EA0B3E-586A-43E2-A0F5-990680D6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098" y="230965"/>
            <a:ext cx="523240" cy="541545"/>
          </a:xfrm>
        </p:spPr>
        <p:txBody>
          <a:bodyPr/>
          <a:lstStyle/>
          <a:p>
            <a:fld id="{294A09A9-5501-47C1-A89A-A340965A2BE2}" type="slidenum">
              <a:rPr lang="en-US" sz="3200" smtClean="0"/>
              <a:pPr/>
              <a:t>18</a:t>
            </a:fld>
            <a:endParaRPr lang="en-US" sz="3200" dirty="0">
              <a:latin typeface="+mn-lt"/>
            </a:endParaRPr>
          </a:p>
        </p:txBody>
      </p:sp>
      <p:sp>
        <p:nvSpPr>
          <p:cNvPr id="7" name="Title"/>
          <p:cNvSpPr txBox="1"/>
          <p:nvPr/>
        </p:nvSpPr>
        <p:spPr>
          <a:xfrm>
            <a:off x="201168" y="36576"/>
            <a:ext cx="9692640" cy="47548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2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Виявлення аритмій (ЕКГ): семантичний перехід CARDIA-X</a:t>
            </a:r>
          </a:p>
        </p:txBody>
      </p:sp>
      <p:sp>
        <p:nvSpPr>
          <p:cNvPr id="8" name="Subtitle"/>
          <p:cNvSpPr txBox="1"/>
          <p:nvPr/>
        </p:nvSpPr>
        <p:spPr>
          <a:xfrm>
            <a:off x="219456" y="484632"/>
            <a:ext cx="9966960" cy="3291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250" b="0" i="1">
                <a:solidFill>
                  <a:srgbClr val="404040"/>
                </a:solidFill>
                <a:latin typeface="Arial"/>
                <a:ea typeface="Arial"/>
                <a:cs typeface="Arial"/>
              </a:rPr>
              <a:t>Пояснення 12-канальної ЕКГ мовою клінічних вимірювань</a:t>
            </a:r>
          </a:p>
        </p:txBody>
      </p:sp>
      <p:sp>
        <p:nvSpPr>
          <p:cNvPr id="9" name="Panel: transition"/>
          <p:cNvSpPr/>
          <p:nvPr/>
        </p:nvSpPr>
        <p:spPr>
          <a:xfrm>
            <a:off x="228600" y="896112"/>
            <a:ext cx="5897880" cy="2670048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Panel: transition title"/>
          <p:cNvSpPr txBox="1"/>
          <p:nvPr/>
        </p:nvSpPr>
        <p:spPr>
          <a:xfrm>
            <a:off x="338328" y="950976"/>
            <a:ext cx="567842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Матриця переходу для ЕКГ</a:t>
            </a:r>
          </a:p>
        </p:txBody>
      </p:sp>
      <p:pic>
        <p:nvPicPr>
          <p:cNvPr id="11" name="Picture 10" descr="Фрагмент ЕКГ PTB-XL, 6 секунд, відведення II, V1 і V6, відкладений запис нормального ритму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2194560" cy="13799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0040" y="2670048"/>
            <a:ext cx="2194560" cy="45720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80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PTB-XL: відкладений запис нормального ритму (II, V1, V6)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Рівняння 13"/>
              <p:cNvSpPr txBox="1"/>
              <p:nvPr/>
            </p:nvSpPr>
            <p:spPr>
              <a:xfrm>
                <a:off x="2651760" y="1280160"/>
                <a:ext cx="2458905" cy="2353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Z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m:rPr>
                                  <m:sty m:val="b"/>
                                </m:rPr>
                                <a:rPr lang="uk-UA" sz="1150" b="1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b>
                          </m:sSub>
                          <m:sSubSup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⊤</m:t>
                              </m:r>
                            </m:sup>
                          </m:sSubSup>
                        </m:e>
                      </m:d>
                      <m:sSubSup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p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p>
                      </m:sSup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3" name="Рівняння 13"/>
              <p:cNvSpPr txBox="1"/>
              <p:nvPr/>
            </p:nvSpPr>
            <p:spPr>
              <a:xfrm>
                <a:off x="2651760" y="1307592"/>
                <a:ext cx="2185492" cy="1805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Рівняння 14"/>
              <p:cNvSpPr txBox="1"/>
              <p:nvPr/>
            </p:nvSpPr>
            <p:spPr>
              <a:xfrm>
                <a:off x="2651760" y="1606981"/>
                <a:ext cx="2165870" cy="4491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g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∈</m:t>
                      </m:r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O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4" name="Рівняння 14"/>
              <p:cNvSpPr txBox="1"/>
              <p:nvPr/>
            </p:nvSpPr>
            <p:spPr>
              <a:xfrm>
                <a:off x="2651760" y="1634413"/>
                <a:ext cx="1919097" cy="3943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Рівняння 15"/>
              <p:cNvSpPr txBox="1"/>
              <p:nvPr/>
            </p:nvSpPr>
            <p:spPr>
              <a:xfrm>
                <a:off x="2651760" y="2147620"/>
                <a:ext cx="2977499" cy="33878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rPr>
                                  <m:sty m:val="b"/>
                                </m:rPr>
                                <a:rPr lang="uk-UA" sz="1150" b="1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</m:acc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λ</m:t>
                          </m:r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arg min</m:t>
                          </m:r>
                        </m:e>
                        <m:lim>
                          <m:r>
                            <m:rPr>
                              <m:sty m:val="b"/>
                            </m:rPr>
                            <a:rPr lang="uk-UA" sz="115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w</m:t>
                          </m:r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p>
                            <m:e>
                              <m:r>
                                <m:rPr>
                                  <m:sty m:val="p"/>
                                  <m:scr m:val="double-struck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  <m:sup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p>
                          </m:sSup>
                        </m:lim>
                      </m:limLow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∥</m:t>
                      </m:r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Z</m:t>
                          </m:r>
                        </m:e>
                        <m:sub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sub>
                      </m:sSub>
                      <m:r>
                        <m:rPr>
                          <m:sty m:val="b"/>
                        </m:rPr>
                        <a:rPr lang="uk-UA" sz="1150" b="1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O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sSubSup>
                        <m:e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λ</m:t>
                      </m:r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∥</m:t>
                      </m:r>
                      <m:r>
                        <m:rPr>
                          <m:sty m:val="b"/>
                        </m:rPr>
                        <a:rPr lang="uk-UA" sz="1150" b="1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w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∥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5" name="Рівняння 15"/>
              <p:cNvSpPr txBox="1"/>
              <p:nvPr/>
            </p:nvSpPr>
            <p:spPr>
              <a:xfrm>
                <a:off x="2651760" y="2175052"/>
                <a:ext cx="2656941" cy="2839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Рівняння 16"/>
              <p:cNvSpPr txBox="1"/>
              <p:nvPr/>
            </p:nvSpPr>
            <p:spPr>
              <a:xfrm>
                <a:off x="2651760" y="2577845"/>
                <a:ext cx="3374638" cy="28094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λ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sSub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W</m:t>
                              </m:r>
                            </m:e>
                          </m:acc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λ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  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</m:acc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1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bSup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a:rPr lang="uk-UA" sz="11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</m:acc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1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μ</m:t>
                              </m:r>
                            </m:e>
                            <m:sub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r>
                                <m:rPr>
                                  <m:sty m:val="p"/>
                                </m:rPr>
                                <a:rPr lang="uk-UA" sz="11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1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uk-UA" sz="1150" dirty="0"/>
              </a:p>
            </p:txBody>
          </p:sp>
        </mc:Choice>
        <mc:Fallback>
          <p:sp>
            <p:nvSpPr>
              <p:cNvPr id="16" name="Рівняння 16"/>
              <p:cNvSpPr txBox="1"/>
              <p:nvPr/>
            </p:nvSpPr>
            <p:spPr>
              <a:xfrm>
                <a:off x="2651760" y="2605277"/>
                <a:ext cx="3017977" cy="2260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7" name="Panel: stability"/>
          <p:cNvSpPr/>
          <p:nvPr/>
        </p:nvSpPr>
        <p:spPr>
          <a:xfrm>
            <a:off x="6263640" y="896112"/>
            <a:ext cx="5532120" cy="2670048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anel: stability title"/>
          <p:cNvSpPr txBox="1"/>
          <p:nvPr/>
        </p:nvSpPr>
        <p:spPr>
          <a:xfrm>
            <a:off x="6373368" y="950976"/>
            <a:ext cx="531266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4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Стабільність пояснень при зсуві сигналу</a:t>
            </a:r>
          </a:p>
        </p:txBody>
      </p:sp>
      <p:graphicFrame>
        <p:nvGraphicFramePr>
          <p:cNvPr id="19" name="Chart: explanation stability"/>
          <p:cNvGraphicFramePr>
            <a:graphicFrameLocks noGrp="1"/>
          </p:cNvGraphicFramePr>
          <p:nvPr/>
        </p:nvGraphicFramePr>
        <p:xfrm>
          <a:off x="6327648" y="1207008"/>
          <a:ext cx="5394960" cy="178308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0" name="Рівняння 20"/>
              <p:cNvSpPr txBox="1"/>
              <p:nvPr/>
            </p:nvSpPr>
            <p:spPr>
              <a:xfrm>
                <a:off x="6400800" y="3044952"/>
                <a:ext cx="2997951" cy="21076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1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ρ</m:t>
                          </m:r>
                        </m:e>
                        <m:sub>
                          <m:r>
                            <a:rPr lang="uk-UA" sz="11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uk-UA" sz="11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a:rPr lang="uk-UA" sz="11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corr</m:t>
                          </m:r>
                        </m:e>
                        <m:sub>
                          <m:r>
                            <a:rPr lang="uk-UA" sz="11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m:rPr>
                              <m:sty m:val="b"/>
                            </m:rPr>
                            <a:rPr lang="uk-UA" sz="110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1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uk-UA" sz="110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uk-UA" sz="110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 </m:t>
                          </m:r>
                          <m:r>
                            <m:rPr>
                              <m:sty m:val="b"/>
                            </m:rPr>
                            <a:rPr lang="uk-UA" sz="1100" b="1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1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uk-UA" sz="110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uk-UA" sz="110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δ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uk-UA" sz="11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1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r>
                        <a:rPr lang="uk-UA" sz="11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uk-UA" sz="11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uk-UA" sz="11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±</m:t>
                      </m:r>
                      <m:r>
                        <a:rPr lang="uk-UA" sz="11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20</m:t>
                      </m:r>
                      <m:r>
                        <a:rPr lang="uk-UA" sz="110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uk-UA" sz="110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мс</m:t>
                      </m:r>
                    </m:oMath>
                  </m:oMathPara>
                </a14:m>
                <a:endParaRPr lang="uk-UA" sz="1100" dirty="0"/>
              </a:p>
            </p:txBody>
          </p:sp>
        </mc:Choice>
        <mc:Fallback>
          <p:sp>
            <p:nvSpPr>
              <p:cNvPr id="20" name="Рівняння 20"/>
              <p:cNvSpPr txBox="1"/>
              <p:nvPr/>
            </p:nvSpPr>
            <p:spPr>
              <a:xfrm>
                <a:off x="6400800" y="3072384"/>
                <a:ext cx="2675534" cy="1559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10012680" y="3044952"/>
            <a:ext cx="1737360" cy="41148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295 записів, 95% ДІ</a:t>
            </a:r>
          </a:p>
        </p:txBody>
      </p:sp>
      <p:sp>
        <p:nvSpPr>
          <p:cNvPr id="22" name="Panel: MAE"/>
          <p:cNvSpPr/>
          <p:nvPr/>
        </p:nvSpPr>
        <p:spPr>
          <a:xfrm>
            <a:off x="228600" y="3675887"/>
            <a:ext cx="5897880" cy="2267712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anel: MAE title"/>
          <p:cNvSpPr txBox="1"/>
          <p:nvPr/>
        </p:nvSpPr>
        <p:spPr>
          <a:xfrm>
            <a:off x="338328" y="3730751"/>
            <a:ext cx="567842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Похибка відтворення (перехресна перевірка)</a:t>
            </a:r>
          </a:p>
        </p:txBody>
      </p:sp>
      <p:graphicFrame>
        <p:nvGraphicFramePr>
          <p:cNvPr id="24" name="Table: ECG MAE"/>
          <p:cNvGraphicFramePr>
            <a:graphicFrameLocks noGrp="1"/>
          </p:cNvGraphicFramePr>
          <p:nvPr/>
        </p:nvGraphicFramePr>
        <p:xfrm>
          <a:off x="365760" y="4023360"/>
          <a:ext cx="5623560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88920"/>
                <a:gridCol w="1371600"/>
                <a:gridCol w="146304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Семантична ціль</a:t>
                      </a:r>
                    </a:p>
                  </a:txBody>
                  <a:tcPr marL="45720" marR="45720" marT="9144" marB="9144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Сер. абс. похибка</a:t>
                      </a:r>
                    </a:p>
                  </a:txBody>
                  <a:tcPr marL="45720" marR="45720" marT="9144" marB="9144" anchor="ctr">
                    <a:solidFill>
                      <a:srgbClr val="E6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  <a:ea typeface="Arial"/>
                          <a:cs typeface="Arial"/>
                        </a:rPr>
                        <a:t>95% ДІ</a:t>
                      </a:r>
                    </a:p>
                  </a:txBody>
                  <a:tcPr marL="45720" marR="45720" marT="9144" marB="9144" anchor="ctr">
                    <a:solidFill>
                      <a:srgbClr val="E6EEF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Частота серцевих скорочень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10.97 уд/хв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</a:rPr>
                        <a:t>10.74–11.23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Тривалість QRS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9.95 мс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</a:rPr>
                        <a:t>9.70–10.20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Тривалість зубця 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9.76 мс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</a:rPr>
                        <a:t>9.58–9.94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Інтервал PR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22.77 мс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</a:rPr>
                        <a:t>22.31–23.23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Інтервал QTc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20.79 мс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</a:rPr>
                        <a:t>20.25–21.41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</a:rPr>
                        <a:t>Рівень ST у V5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4E79"/>
                          </a:solidFill>
                          <a:latin typeface="Arial"/>
                          <a:ea typeface="Arial"/>
                          <a:cs typeface="Arial"/>
                        </a:rPr>
                        <a:t>0.040 мВ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</a:rPr>
                        <a:t>0.038–0.041</a:t>
                      </a:r>
                    </a:p>
                  </a:txBody>
                  <a:tcPr marL="45720" marR="45720" marT="9144" marB="9144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65760" y="5577840"/>
            <a:ext cx="5669280" cy="310896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5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Класифікатор, тест 2 198 записів: </a:t>
            </a:r>
            <a:r>
              <a:rPr sz="9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точність підмножини 0.741, мікро-F1 0.813</a:t>
            </a:r>
          </a:p>
        </p:txBody>
      </p:sp>
      <p:sp>
        <p:nvSpPr>
          <p:cNvPr id="26" name="Panel: rules"/>
          <p:cNvSpPr/>
          <p:nvPr/>
        </p:nvSpPr>
        <p:spPr>
          <a:xfrm>
            <a:off x="6263640" y="3675887"/>
            <a:ext cx="5532120" cy="2267712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2700">
            <a:solidFill>
              <a:srgbClr val="C9C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Panel: rules title"/>
          <p:cNvSpPr txBox="1"/>
          <p:nvPr/>
        </p:nvSpPr>
        <p:spPr>
          <a:xfrm>
            <a:off x="6373368" y="3730751"/>
            <a:ext cx="5312664" cy="310896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/>
            <a:r>
              <a:rPr sz="1300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Продукційні правила та маршрути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Рівняння 28"/>
              <p:cNvSpPr txBox="1"/>
              <p:nvPr/>
            </p:nvSpPr>
            <p:spPr>
              <a:xfrm>
                <a:off x="6400800" y="4005072"/>
                <a:ext cx="2723357" cy="2500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  <m:sub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0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α</m:t>
                      </m:r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acc>
                        </m:e>
                        <m:sub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+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uk-UA" sz="10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α</m:t>
                          </m:r>
                        </m:e>
                      </m:d>
                      <m:r>
                        <a:rPr lang="uk-UA" sz="10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 </m:t>
                      </m:r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acc>
                        </m:e>
                        <m:sub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uk-UA" sz="10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 </m:t>
                      </m:r>
                      <m:r>
                        <a:rPr lang="uk-UA" sz="10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α</m:t>
                      </m:r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uk-UA" sz="10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0.65</m:t>
                      </m:r>
                    </m:oMath>
                  </m:oMathPara>
                </a14:m>
                <a:endParaRPr lang="uk-UA" sz="1050" dirty="0"/>
              </a:p>
            </p:txBody>
          </p:sp>
        </mc:Choice>
        <mc:Fallback>
          <p:sp>
            <p:nvSpPr>
              <p:cNvPr id="28" name="Рівняння 28"/>
              <p:cNvSpPr txBox="1"/>
              <p:nvPr/>
            </p:nvSpPr>
            <p:spPr>
              <a:xfrm>
                <a:off x="6400800" y="4032504"/>
                <a:ext cx="2425903" cy="1952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Рівняння 29"/>
              <p:cNvSpPr txBox="1"/>
              <p:nvPr/>
            </p:nvSpPr>
            <p:spPr>
              <a:xfrm>
                <a:off x="6400800" y="4307395"/>
                <a:ext cx="1841487" cy="3957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a:rPr lang="uk-UA" sz="10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uk-UA" sz="10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a:rPr lang="uk-UA" sz="10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⋀</m:t>
                          </m:r>
                        </m:e>
                        <m:lim>
                          <m:sSub>
                            <m:e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0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</m:lim>
                      </m:limLow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0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=</m:t>
                          </m:r>
                          <m:sSub>
                            <m:e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uk-UA" sz="10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sub>
                      </m:sSub>
                    </m:oMath>
                  </m:oMathPara>
                </a14:m>
                <a:endParaRPr lang="uk-UA" sz="1050" dirty="0"/>
              </a:p>
            </p:txBody>
          </p:sp>
        </mc:Choice>
        <mc:Fallback>
          <p:sp>
            <p:nvSpPr>
              <p:cNvPr id="29" name="Рівняння 29"/>
              <p:cNvSpPr txBox="1"/>
              <p:nvPr/>
            </p:nvSpPr>
            <p:spPr>
              <a:xfrm>
                <a:off x="6400800" y="4334827"/>
                <a:ext cx="1624203" cy="3408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Рівняння 30"/>
              <p:cNvSpPr txBox="1"/>
              <p:nvPr/>
            </p:nvSpPr>
            <p:spPr>
              <a:xfrm>
                <a:off x="8516607" y="4282592"/>
                <a:ext cx="2503330" cy="4453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H</m:t>
                          </m:r>
                        </m:sub>
                      </m:sSub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σ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uk-UA" sz="10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sSub>
                                <m:e>
                                  <m:r>
                                    <a:rPr lang="uk-UA" sz="10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uk-UA" sz="10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sSub>
                            <m:e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</m:e>
                            <m:sub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uk-UA" sz="10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sub>
                          </m:sSub>
                        </m:sub>
                        <m:sup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​</m:t>
                          </m:r>
                        </m:sup>
                        <m:e>
                          <m:r>
                            <m:rPr>
                              <m:sty m:val="p"/>
                              <m:scr m:val="double-struck"/>
                            </m:rPr>
                            <a:rPr lang="uk-UA" sz="10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nary>
                      <m:d>
                        <m:dPr>
                          <m:begChr m:val="{"/>
                          <m:endChr m:val="}"/>
                          <m:sepChr m:val=""/>
                          <m:grow/>
                        </m:dPr>
                        <m:e>
                          <m:sSub>
                            <m:e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uk-UA" sz="10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≠</m:t>
                          </m:r>
                          <m:sSub>
                            <m:e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uk-UA" sz="1050" dirty="0"/>
              </a:p>
            </p:txBody>
          </p:sp>
        </mc:Choice>
        <mc:Fallback>
          <p:sp>
            <p:nvSpPr>
              <p:cNvPr id="30" name="Рівняння 30"/>
              <p:cNvSpPr txBox="1"/>
              <p:nvPr/>
            </p:nvSpPr>
            <p:spPr>
              <a:xfrm>
                <a:off x="8516607" y="4310024"/>
                <a:ext cx="2225878" cy="39044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Рівняння 31"/>
              <p:cNvSpPr txBox="1"/>
              <p:nvPr/>
            </p:nvSpPr>
            <p:spPr>
              <a:xfrm>
                <a:off x="6400800" y="4755337"/>
                <a:ext cx="2733918" cy="38290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o</m:t>
                      </m:r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endChr m:val=")"/>
                          <m:sepChr m:val=""/>
                          <m:grow/>
                        </m:dPr>
                        <m:e>
                          <m:r>
                            <a:rPr lang="uk-UA" sz="1050" b="0" i="1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|"/>
                              <m:endChr m:val="|"/>
                              <m:sepChr m:val="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uk-UA" sz="10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{</m:t>
                              </m:r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uk-UA" sz="10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:</m:t>
                              </m:r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 </m:t>
                              </m:r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uk-UA" sz="10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⊨</m:t>
                              </m:r>
                              <m:r>
                                <m:rPr>
                                  <m:sty m:val="p"/>
                                </m:rPr>
                                <a:rPr lang="uk-UA" sz="10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uk-UA" sz="10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uk-UA" sz="10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uk-UA" sz="10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uk-UA" sz="10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uk-UA" sz="10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 </m:t>
                              </m:r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  <m:d>
                                <m:dPr>
                                  <m:begChr m:val="("/>
                                  <m:endChr m:val=")"/>
                                  <m:sepChr m:val=""/>
                                  <m:grow/>
                                </m:dPr>
                                <m:e>
                                  <m:r>
                                    <a:rPr lang="uk-UA" sz="10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uk-UA" sz="10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uk-UA" sz="10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uk-UA" sz="1050" b="0" i="1">
                                      <a:solidFill>
                                        <a:srgbClr val="1F1F1F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uk-UA" sz="1050" b="0" i="0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}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uk-UA" sz="10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uk-UA" sz="10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u</m:t>
                          </m:r>
                          <m:r>
                            <m:rPr>
                              <m:sty m:val="p"/>
                            </m:rPr>
                            <a:rPr lang="uk-UA" sz="10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uk-UA" sz="1050" b="0" i="0">
                              <a:solidFill>
                                <a:srgbClr val="1F1F1F"/>
                              </a:solidFill>
                              <a:latin typeface="Cambria Math" panose="02040503050406030204" pitchFamily="18" charset="0"/>
                              <a:ea typeface="Cambria Math"/>
                              <a:cs typeface="Cambria Math"/>
                            </a:rPr>
                            <m:t>p</m:t>
                          </m:r>
                          <m:d>
                            <m:dPr>
                              <m:begChr m:val="("/>
                              <m:endChr m:val=")"/>
                              <m:sepChr m:val=""/>
                              <m:grow/>
                            </m:dPr>
                            <m:e>
                              <m:r>
                                <a:rPr lang="uk-UA" sz="1050" b="0" i="1">
                                  <a:solidFill>
                                    <a:srgbClr val="1F1F1F"/>
                                  </a:solidFill>
                                  <a:latin typeface="Cambria Math" panose="02040503050406030204" pitchFamily="18" charset="0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uk-UA" sz="1050" dirty="0"/>
              </a:p>
            </p:txBody>
          </p:sp>
        </mc:Choice>
        <mc:Fallback>
          <p:sp>
            <p:nvSpPr>
              <p:cNvPr id="31" name="Рівняння 31"/>
              <p:cNvSpPr txBox="1"/>
              <p:nvPr/>
            </p:nvSpPr>
            <p:spPr>
              <a:xfrm>
                <a:off x="6400800" y="4782769"/>
                <a:ext cx="2435504" cy="32804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Рівняння 32"/>
              <p:cNvSpPr txBox="1"/>
              <p:nvPr/>
            </p:nvSpPr>
            <p:spPr>
              <a:xfrm>
                <a:off x="6400800" y="5183962"/>
                <a:ext cx="1957661" cy="1892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MATH
                  <m:oMathPara xmlns:m="http://schemas.openxmlformats.org/officeDocument/2006/math" xmlns:w="http://schemas.openxmlformats.org/wordprocessingml/2006/main" xmlns:o="urn:schemas-microsoft-com:office:office" xmlns:v="urn:schemas-microsoft-com:vml" xmlns:w10="urn:schemas-microsoft-com:office:word" xmlns:pic="http://schemas.openxmlformats.org/drawingml/2006/picture" xmlns:wp="http://schemas.openxmlformats.org/drawingml/2006/wordprocessingDrawing">
                    <m:oMathParaPr>
                      <m:jc m:val="left"/>
                    </m:oMathParaPr>
                    <m:oMath>
                      <m:r>
                        <m:rPr>
                          <m:nor/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QRS</m:t>
                      </m:r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uk-UA" sz="10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120</m:t>
                      </m:r>
                      <m:r>
                        <a:rPr lang="uk-UA" sz="10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мс</m:t>
                      </m:r>
                      <m:r>
                        <a:rPr lang="uk-UA" sz="10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uk-UA" sz="1050" b="0" i="1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 </m:t>
                      </m:r>
                      <m:r>
                        <m:rPr>
                          <m:nor/>
                          <m:sty m:val="p"/>
                        </m:rPr>
                        <a:rPr lang="uk-UA" sz="1050" b="0" i="0">
                          <a:solidFill>
                            <a:srgbClr val="1F1F1F"/>
                          </a:solidFill>
                          <a:latin typeface="Cambria Math" panose="02040503050406030204" pitchFamily="18" charset="0"/>
                          <a:ea typeface="Cambria Math"/>
                          <a:cs typeface="Cambria Math"/>
                        </a:rPr>
                        <m:t>БЛНПГ</m:t>
                      </m:r>
                    </m:oMath>
                  </m:oMathPara>
                </a14:m>
                <a:endParaRPr lang="uk-UA" sz="1050" dirty="0"/>
              </a:p>
            </p:txBody>
          </p:sp>
        </mc:Choice>
        <mc:Fallback>
          <p:sp>
            <p:nvSpPr>
              <p:cNvPr id="32" name="Рівняння 32"/>
              <p:cNvSpPr txBox="1"/>
              <p:nvPr/>
            </p:nvSpPr>
            <p:spPr>
              <a:xfrm>
                <a:off x="6400800" y="5211394"/>
                <a:ext cx="1729816" cy="13441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8503920" y="5183962"/>
            <a:ext cx="3200400" cy="29260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  <a:ea typeface="Arial"/>
                <a:cs typeface="Arial"/>
              </a:rPr>
              <a:t>— приклад формату правила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494858"/>
            <a:ext cx="5303520" cy="403021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2000"/>
              </a:lnSpc>
            </a:pPr>
            <a:r>
              <a:rPr sz="950" b="1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Правила будуються лише для класів, що пройшли перевірку придатності; </a:t>
            </a:r>
            <a:r>
              <a:rPr sz="950" b="0" i="0">
                <a:solidFill>
                  <a:srgbClr val="2B2B2B"/>
                </a:solidFill>
                <a:latin typeface="Arial"/>
                <a:ea typeface="Arial"/>
                <a:cs typeface="Arial"/>
              </a:rPr>
              <a:t>залежно від даних вони можуть бути згенеровані або ні</a:t>
            </a:r>
          </a:p>
        </p:txBody>
      </p:sp>
      <p:sp>
        <p:nvSpPr>
          <p:cNvPr id="35" name="Джерела"/>
          <p:cNvSpPr txBox="1"/>
          <p:nvPr/>
        </p:nvSpPr>
        <p:spPr>
          <a:xfrm>
            <a:off x="201168" y="6053328"/>
            <a:ext cx="11795760" cy="786384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Джерела: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1. 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Radiuk P., Barmak O., Klymenko L., Krak I. CARDIA-X: global semantic transition and rough-set rules for auditable post hoc electrocardiographic explainability. </a:t>
            </a:r>
            <a:r>
              <a:rPr sz="90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AI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 2026. Vol. 7, no. 9. Art. 376. DOI: </a:t>
            </a:r>
            <a:r>
              <a:rPr sz="90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4"/>
              </a:rPr>
              <a:t>10.3390/ai7090376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2. 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Towards transparent AI in medicine: ECG-based arrhythmia detection with explainable deep learning / O. Kovalchuk et al. </a:t>
            </a:r>
            <a:r>
              <a:rPr sz="900" b="0" i="1">
                <a:solidFill>
                  <a:srgbClr val="272626"/>
                </a:solidFill>
                <a:latin typeface="Arial"/>
                <a:ea typeface="Arial"/>
                <a:cs typeface="Arial"/>
              </a:rPr>
              <a:t>Technologies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 2025. Vol. 13, no. 1. Art. 34. DOI: </a:t>
            </a:r>
            <a:r>
              <a:rPr sz="900" b="0" i="0" u="sng">
                <a:solidFill>
                  <a:srgbClr val="272626"/>
                </a:solidFill>
                <a:latin typeface="Arial"/>
                <a:ea typeface="Arial"/>
                <a:cs typeface="Arial"/>
                <a:hlinkClick r:id="rId15"/>
              </a:rPr>
              <a:t>10.3390/technologies13010034</a:t>
            </a:r>
            <a:r>
              <a:rPr sz="900" b="0" i="0">
                <a:solidFill>
                  <a:srgbClr val="27262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84736</TotalTime>
  <Words>3397</Words>
  <Application>Microsoft Office PowerPoint</Application>
  <PresentationFormat>Широкий екран</PresentationFormat>
  <Paragraphs>293</Paragraphs>
  <Slides>25</Slides>
  <Notes>19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25</vt:i4>
      </vt:variant>
    </vt:vector>
  </HeadingPairs>
  <TitlesOfParts>
    <vt:vector size="33" baseType="lpstr">
      <vt:lpstr>Arial</vt:lpstr>
      <vt:lpstr>Arial Black</vt:lpstr>
      <vt:lpstr>Calibri</vt:lpstr>
      <vt:lpstr>Cambria Math</vt:lpstr>
      <vt:lpstr>Franklin Gothic Book</vt:lpstr>
      <vt:lpstr>Franklin Gothic Demi</vt:lpstr>
      <vt:lpstr>Times New Roman</vt:lpstr>
      <vt:lpstr>Custom</vt:lpstr>
      <vt:lpstr>Людино-центрований штучний інтелект  та його застосування</vt:lpstr>
      <vt:lpstr>Анотація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Iurii</dc:creator>
  <cp:lastModifiedBy>Iurii Krak</cp:lastModifiedBy>
  <cp:revision>17</cp:revision>
  <dcterms:created xsi:type="dcterms:W3CDTF">2023-12-20T08:12:12Z</dcterms:created>
  <dcterms:modified xsi:type="dcterms:W3CDTF">2026-10-05T15:42:23Z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